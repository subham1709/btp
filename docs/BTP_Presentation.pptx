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463C"/>
                </a:solidFill>
                <a:latin typeface="+mn-lt"/>
              </a:defRPr>
            </a:pPr>
            <a:r>
              <a:rPr sz="1400" b="0" i="0" u="none" strike="noStrike">
                <a:solidFill>
                  <a:srgbClr val="23463C"/>
                </a:solidFill>
                <a:latin typeface="+mn-lt"/>
              </a:rPr>
              <a:t>ROC-AUC by test (default settings)</a:t>
            </a:r>
          </a:p>
        </c:rich>
      </c:tx>
      <c:layout/>
      <c:overlay val="0"/>
    </c:title>
    <c:autoTitleDeleted val="0"/>
    <c:plotArea>
      <c:layout/>
      <c:barChart>
        <c:barDir val="col"/>
        <c:grouping val="clustered"/>
        <c:varyColors val="0"/>
        <c:ser>
          <c:idx val="0"/>
          <c:order val="0"/>
          <c:tx>
            <c:strRef>
              <c:f>Sheet1!$B$1</c:f>
              <c:strCache>
                <c:ptCount val="1"/>
                <c:pt idx="0">
                  <c:v>A: random split</c:v>
                </c:pt>
              </c:strCache>
            </c:strRef>
          </c:tx>
          <c:spPr>
            <a:solidFill>
              <a:srgbClr val="8C9A94"/>
            </a:solidFill>
            <a:effectLst/>
          </c:spPr>
          <c:invertIfNegative val="0"/>
          <c:dLbls>
            <c:numFmt formatCode="0.00" sourceLinked="0"/>
            <c:txPr>
              <a:bodyPr/>
              <a:lstStyle/>
              <a:p>
                <a:pPr>
                  <a:defRPr b="0" i="0" strike="noStrike" sz="1000" u="none">
                    <a:solidFill>
                      <a:srgbClr val="1E2B26"/>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SVM</c:v>
                  </c:pt>
                  <c:pt idx="2">
                    <c:v>ANN</c:v>
                  </c:pt>
                  <c:pt idx="3">
                    <c:v>Random Forest</c:v>
                  </c:pt>
                  <c:pt idx="4">
                    <c:v>XGBoost</c:v>
                  </c:pt>
                </c:lvl>
              </c:multiLvlStrCache>
            </c:multiLvlStrRef>
          </c:cat>
          <c:val>
            <c:numRef>
              <c:f>Sheet1!$B$2:$B$6</c:f>
              <c:numCache>
                <c:formatCode>General</c:formatCode>
                <c:ptCount val="5"/>
                <c:pt idx="0">
                  <c:v>0.921</c:v>
                </c:pt>
                <c:pt idx="1">
                  <c:v>0.933</c:v>
                </c:pt>
                <c:pt idx="2">
                  <c:v>0.924</c:v>
                </c:pt>
                <c:pt idx="3">
                  <c:v>0.932</c:v>
                </c:pt>
                <c:pt idx="4">
                  <c:v>0.967</c:v>
                </c:pt>
              </c:numCache>
            </c:numRef>
          </c:val>
        </c:ser>
        <c:ser>
          <c:idx val="1"/>
          <c:order val="1"/>
          <c:tx>
            <c:strRef>
              <c:f>Sheet1!$C$1</c:f>
              <c:strCache>
                <c:ptCount val="1"/>
                <c:pt idx="0">
                  <c:v>B: spatial blocks</c:v>
                </c:pt>
              </c:strCache>
            </c:strRef>
          </c:tx>
          <c:spPr>
            <a:solidFill>
              <a:srgbClr val="C8442A"/>
            </a:solidFill>
            <a:effectLst/>
          </c:spPr>
          <c:invertIfNegative val="0"/>
          <c:dLbls>
            <c:numFmt formatCode="0.00" sourceLinked="0"/>
            <c:txPr>
              <a:bodyPr/>
              <a:lstStyle/>
              <a:p>
                <a:pPr>
                  <a:defRPr b="0" i="0" strike="noStrike" sz="1000" u="none">
                    <a:solidFill>
                      <a:srgbClr val="1E2B26"/>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SVM</c:v>
                  </c:pt>
                  <c:pt idx="2">
                    <c:v>ANN</c:v>
                  </c:pt>
                  <c:pt idx="3">
                    <c:v>Random Forest</c:v>
                  </c:pt>
                  <c:pt idx="4">
                    <c:v>XGBoost</c:v>
                  </c:pt>
                </c:lvl>
              </c:multiLvlStrCache>
            </c:multiLvlStrRef>
          </c:cat>
          <c:val>
            <c:numRef>
              <c:f>Sheet1!$C$2:$C$6</c:f>
              <c:numCache>
                <c:formatCode>General</c:formatCode>
                <c:ptCount val="5"/>
                <c:pt idx="0">
                  <c:v>0.876</c:v>
                </c:pt>
                <c:pt idx="1">
                  <c:v>0.886</c:v>
                </c:pt>
                <c:pt idx="2">
                  <c:v>0.901</c:v>
                </c:pt>
                <c:pt idx="3">
                  <c:v>0.875</c:v>
                </c:pt>
                <c:pt idx="4">
                  <c:v>0.851</c:v>
                </c:pt>
              </c:numCache>
            </c:numRef>
          </c:val>
        </c:ser>
        <c:ser>
          <c:idx val="2"/>
          <c:order val="2"/>
          <c:tx>
            <c:strRef>
              <c:f>Sheet1!$D$1</c:f>
              <c:strCache>
                <c:ptCount val="1"/>
                <c:pt idx="0">
                  <c:v>C: 2014+2017 → 2023</c:v>
                </c:pt>
              </c:strCache>
            </c:strRef>
          </c:tx>
          <c:spPr>
            <a:solidFill>
              <a:srgbClr val="2F6B57"/>
            </a:solidFill>
            <a:effectLst/>
          </c:spPr>
          <c:invertIfNegative val="0"/>
          <c:dLbls>
            <c:numFmt formatCode="0.00" sourceLinked="0"/>
            <c:txPr>
              <a:bodyPr/>
              <a:lstStyle/>
              <a:p>
                <a:pPr>
                  <a:defRPr b="0" i="0" strike="noStrike" sz="1000" u="none">
                    <a:solidFill>
                      <a:srgbClr val="1E2B26"/>
                    </a:solidFill>
                    <a:latin typeface="+mn-lt"/>
                  </a:defRPr>
                </a:pPr>
              </a:p>
            </c:txPr>
            <c:showLegendKey val="0"/>
            <c:showVal val="1"/>
            <c:showCatName val="0"/>
            <c:showSerName val="0"/>
            <c:showPercent val="0"/>
            <c:showBubbleSize val="0"/>
            <c:showLeaderLines val="0"/>
          </c:dLbls>
          <c:cat>
            <c:multiLvlStrRef>
              <c:f>Sheet1!$A$2:$A$6</c:f>
              <c:multiLvlStrCache>
                <c:ptCount val="5"/>
                <c:lvl>
                  <c:pt idx="0">
                    <c:v>kNN</c:v>
                  </c:pt>
                  <c:pt idx="1">
                    <c:v>SVM</c:v>
                  </c:pt>
                  <c:pt idx="2">
                    <c:v>ANN</c:v>
                  </c:pt>
                  <c:pt idx="3">
                    <c:v>Random Forest</c:v>
                  </c:pt>
                  <c:pt idx="4">
                    <c:v>XGBoost</c:v>
                  </c:pt>
                </c:lvl>
              </c:multiLvlStrCache>
            </c:multiLvlStrRef>
          </c:cat>
          <c:val>
            <c:numRef>
              <c:f>Sheet1!$D$2:$D$6</c:f>
              <c:numCache>
                <c:formatCode>General</c:formatCode>
                <c:ptCount val="5"/>
                <c:pt idx="0">
                  <c:v>0.765</c:v>
                </c:pt>
                <c:pt idx="1">
                  <c:v>0.782</c:v>
                </c:pt>
                <c:pt idx="2">
                  <c:v>0.767</c:v>
                </c:pt>
                <c:pt idx="3">
                  <c:v>0.813</c:v>
                </c:pt>
                <c:pt idx="4">
                  <c:v>0.824</c:v>
                </c:pt>
              </c:numCache>
            </c:numRef>
          </c:val>
        </c:ser>
        <c:dLbls>
          <c:numFmt formatCode="0.00" sourceLinked="0"/>
          <c:txPr>
            <a:bodyPr/>
            <a:lstStyle/>
            <a:p>
              <a:pPr>
                <a:defRPr b="0" i="0" strike="noStrike" sz="1000" u="none">
                  <a:solidFill>
                    <a:srgbClr val="1E2B26"/>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E2B26"/>
                </a:solidFill>
                <a:latin typeface="+mn-lt"/>
              </a:defRPr>
            </a:pPr>
            <a:endParaRPr lang="en-US"/>
          </a:p>
        </c:txPr>
        <c:crossAx val="2094734552"/>
        <c:crosses val="autoZero"/>
        <c:auto val="1"/>
        <c:lblAlgn val="ctr"/>
        <c:noMultiLvlLbl val="1"/>
      </c:catAx>
      <c:valAx>
        <c:axId val="2094734552"/>
        <c:scaling>
          <c:orientation val="minMax"/>
          <c:max val="1"/>
          <c:min val="0.7"/>
        </c:scaling>
        <c:delete val="0"/>
        <c:axPos val="l"/>
        <c:majorGridlines>
          <c:spPr>
            <a:ln w="6350" cap="flat">
              <a:solidFill>
                <a:srgbClr val="DDE3E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C8A7F"/>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E2B26"/>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3463C"/>
                </a:solidFill>
                <a:latin typeface="+mn-lt"/>
              </a:defRPr>
            </a:pPr>
            <a:r>
              <a:rPr sz="1400" b="0" i="0" u="none" strike="noStrike">
                <a:solidFill>
                  <a:srgbClr val="23463C"/>
                </a:solidFill>
                <a:latin typeface="+mn-lt"/>
              </a:rPr>
              <a:t>Drop in ROC-AUC when the factor is shuffled</a:t>
            </a:r>
          </a:p>
        </c:rich>
      </c:tx>
      <c:layout/>
      <c:overlay val="0"/>
    </c:title>
    <c:autoTitleDeleted val="0"/>
    <c:plotArea>
      <c:layout/>
      <c:barChart>
        <c:barDir val="bar"/>
        <c:grouping val="clustered"/>
        <c:varyColors val="0"/>
        <c:ser>
          <c:idx val="0"/>
          <c:order val="0"/>
          <c:tx>
            <c:strRef>
              <c:f>Sheet1!$B$1</c:f>
              <c:strCache>
                <c:ptCount val="1"/>
                <c:pt idx="0">
                  <c:v>Random Forest</c:v>
                </c:pt>
              </c:strCache>
            </c:strRef>
          </c:tx>
          <c:spPr>
            <a:solidFill>
              <a:srgbClr val="2F6B57"/>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Eastness</c:v>
                  </c:pt>
                  <c:pt idx="1">
                    <c:v>TWI</c:v>
                  </c:pt>
                  <c:pt idx="2">
                    <c:v>Drainage density</c:v>
                  </c:pt>
                  <c:pt idx="3">
                    <c:v>Soil clay</c:v>
                  </c:pt>
                  <c:pt idx="4">
                    <c:v>NDVI</c:v>
                  </c:pt>
                  <c:pt idx="5">
                    <c:v>Dist. to river</c:v>
                  </c:pt>
                  <c:pt idx="6">
                    <c:v>Plan curvature</c:v>
                  </c:pt>
                  <c:pt idx="7">
                    <c:v>NDWI</c:v>
                  </c:pt>
                  <c:pt idx="8">
                    <c:v>Dist. to road</c:v>
                  </c:pt>
                  <c:pt idx="9">
                    <c:v>NDBI</c:v>
                  </c:pt>
                  <c:pt idx="10">
                    <c:v>Elevation</c:v>
                  </c:pt>
                  <c:pt idx="11">
                    <c:v>Rainfall</c:v>
                  </c:pt>
                  <c:pt idx="12">
                    <c:v>Northness</c:v>
                  </c:pt>
                  <c:pt idx="13">
                    <c:v>Slope</c:v>
                  </c:pt>
                </c:lvl>
              </c:multiLvlStrCache>
            </c:multiLvlStrRef>
          </c:cat>
          <c:val>
            <c:numRef>
              <c:f>Sheet1!$B$2:$B$15</c:f>
              <c:numCache>
                <c:formatCode>General</c:formatCode>
                <c:ptCount val="14"/>
                <c:pt idx="0">
                  <c:v>0.0023</c:v>
                </c:pt>
                <c:pt idx="1">
                  <c:v>0.0025</c:v>
                </c:pt>
                <c:pt idx="2">
                  <c:v>0.0027</c:v>
                </c:pt>
                <c:pt idx="3">
                  <c:v>0.0035</c:v>
                </c:pt>
                <c:pt idx="4">
                  <c:v>0.0042</c:v>
                </c:pt>
                <c:pt idx="5">
                  <c:v>0.0043</c:v>
                </c:pt>
                <c:pt idx="6">
                  <c:v>0.0069</c:v>
                </c:pt>
                <c:pt idx="7">
                  <c:v>0.0092</c:v>
                </c:pt>
                <c:pt idx="8">
                  <c:v>0.0117</c:v>
                </c:pt>
                <c:pt idx="9">
                  <c:v>0.0178</c:v>
                </c:pt>
                <c:pt idx="10">
                  <c:v>0.0208</c:v>
                </c:pt>
                <c:pt idx="11">
                  <c:v>0.0299</c:v>
                </c:pt>
                <c:pt idx="12">
                  <c:v>0.0508</c:v>
                </c:pt>
                <c:pt idx="13">
                  <c:v>0.1048</c:v>
                </c:pt>
              </c:numCache>
            </c:numRef>
          </c:val>
        </c:ser>
        <c:ser>
          <c:idx val="1"/>
          <c:order val="1"/>
          <c:tx>
            <c:strRef>
              <c:f>Sheet1!$C$1</c:f>
              <c:strCache>
                <c:ptCount val="1"/>
                <c:pt idx="0">
                  <c:v>XGBoost</c:v>
                </c:pt>
              </c:strCache>
            </c:strRef>
          </c:tx>
          <c:spPr>
            <a:solidFill>
              <a:srgbClr val="C8442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Eastness</c:v>
                  </c:pt>
                  <c:pt idx="1">
                    <c:v>TWI</c:v>
                  </c:pt>
                  <c:pt idx="2">
                    <c:v>Drainage density</c:v>
                  </c:pt>
                  <c:pt idx="3">
                    <c:v>Soil clay</c:v>
                  </c:pt>
                  <c:pt idx="4">
                    <c:v>NDVI</c:v>
                  </c:pt>
                  <c:pt idx="5">
                    <c:v>Dist. to river</c:v>
                  </c:pt>
                  <c:pt idx="6">
                    <c:v>Plan curvature</c:v>
                  </c:pt>
                  <c:pt idx="7">
                    <c:v>NDWI</c:v>
                  </c:pt>
                  <c:pt idx="8">
                    <c:v>Dist. to road</c:v>
                  </c:pt>
                  <c:pt idx="9">
                    <c:v>NDBI</c:v>
                  </c:pt>
                  <c:pt idx="10">
                    <c:v>Elevation</c:v>
                  </c:pt>
                  <c:pt idx="11">
                    <c:v>Rainfall</c:v>
                  </c:pt>
                  <c:pt idx="12">
                    <c:v>Northness</c:v>
                  </c:pt>
                  <c:pt idx="13">
                    <c:v>Slope</c:v>
                  </c:pt>
                </c:lvl>
              </c:multiLvlStrCache>
            </c:multiLvlStrRef>
          </c:cat>
          <c:val>
            <c:numRef>
              <c:f>Sheet1!$C$2:$C$15</c:f>
              <c:numCache>
                <c:formatCode>General</c:formatCode>
                <c:ptCount val="14"/>
                <c:pt idx="0">
                  <c:v>0.0011</c:v>
                </c:pt>
                <c:pt idx="1">
                  <c:v>0.0004</c:v>
                </c:pt>
                <c:pt idx="2">
                  <c:v>0.0027</c:v>
                </c:pt>
                <c:pt idx="3">
                  <c:v>0.0026</c:v>
                </c:pt>
                <c:pt idx="4">
                  <c:v>0.0038</c:v>
                </c:pt>
                <c:pt idx="5">
                  <c:v>0.0045</c:v>
                </c:pt>
                <c:pt idx="6">
                  <c:v>0.0029</c:v>
                </c:pt>
                <c:pt idx="7">
                  <c:v>0.0064</c:v>
                </c:pt>
                <c:pt idx="8">
                  <c:v>0.0107</c:v>
                </c:pt>
                <c:pt idx="9">
                  <c:v>0.0125</c:v>
                </c:pt>
                <c:pt idx="10">
                  <c:v>0.016</c:v>
                </c:pt>
                <c:pt idx="11">
                  <c:v>0.1004</c:v>
                </c:pt>
                <c:pt idx="12">
                  <c:v>0.0163</c:v>
                </c:pt>
                <c:pt idx="13">
                  <c:v>0.0683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2B26"/>
                </a:solidFill>
                <a:latin typeface="+mn-lt"/>
              </a:defRPr>
            </a:pPr>
            <a:endParaRPr lang="en-US"/>
          </a:p>
        </c:txPr>
        <c:crossAx val="2094734552"/>
        <c:crosses val="autoZero"/>
        <c:auto val="1"/>
        <c:lblAlgn val="ctr"/>
        <c:noMultiLvlLbl val="1"/>
      </c:catAx>
      <c:valAx>
        <c:axId val="2094734552"/>
        <c:scaling>
          <c:orientation val="minMax"/>
          <c:max val="0.11"/>
          <c:min val="0"/>
        </c:scaling>
        <c:delete val="0"/>
        <c:axPos val="b"/>
        <c:majorGridlines>
          <c:spPr>
            <a:ln w="6350" cap="flat">
              <a:solidFill>
                <a:srgbClr val="DDE3E0"/>
              </a:solidFill>
              <a:prstDash val="solid"/>
              <a:round/>
            </a:ln>
          </c:spPr>
        </c:majorGridlines>
        <c:numFmt formatCode="0.00" sourceLinked="0"/>
        <c:majorTickMark val="out"/>
        <c:minorTickMark val="none"/>
        <c:tickLblPos val="low"/>
        <c:spPr>
          <a:ln w="12700" cap="flat">
            <a:solidFill>
              <a:srgbClr val="888888"/>
            </a:solidFill>
            <a:prstDash val="solid"/>
            <a:round/>
          </a:ln>
        </c:spPr>
        <c:txPr>
          <a:bodyPr/>
          <a:lstStyle/>
          <a:p>
            <a:pPr>
              <a:defRPr sz="1000" b="0" i="0" u="none" strike="noStrike">
                <a:solidFill>
                  <a:srgbClr val="6C8A7F"/>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200">
              <a:solidFill>
                <a:srgbClr val="1E2B26"/>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One-line pitch: I used satellite data and machine learning to map, at 30 m resolution, where landslides are most likely around Hamirpur, and then checked which roads and people sit on that ground. The map on the right is the final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the Shivalik hills are weak sandstone, conglomerate and clay with heavy monsoon rain. The 2023 monsoon alone produced about 3,700 mapped landslides inside my study area. The goal is a map that says WHERE (not when) landslides are likely, so slope protection and drainage money can go to the right road stretches.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Kinnaur, my first area, had too few mapped landslides to train a model, so we moved to Hamirpur, which has the highest landslide density in HP, about 178 per 100 km². A sliding-window search showed the densest box of this size sits just north-west of Hamirpur, so I shifted the box 0.15 degrees north. That raised landslides inside from 3,214 to 4,431. All raster work is in UTM 43N so slope and distance are in real 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Bhuvan shows the polygons on its map but has no download button. Its map server answers WMS GetFeatureInfo, the request a map sends when you click a pixel. If you squeeze the whole state into one 1x1 pixel and click it, the server returns every polygon in the layer with attributes. One request per season gave 14,664 HP landslides. Then: same-pixel duplicates merged, equal number of non-landslide points placed 0.5 to 3 km from the nearest slide, so they are inside the mapped area but off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indices change over time, read from median cloud-free composites. Ten layers are static. Aspect is circular, 0 and 359 degrees are both north, so I split it into northness (cos) and eastness (sin): 13 layers become 14 inputs. Rainfall uses CHIRPS 2009-2025 only, because CHIRPS shows 466 mm/yr before 2009 and 1,862 after, while ERA5-Land shows 1,350 vs 1,604. That jump is a data problem, not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left to right. Everything is in study_area/Hamirpur.ipynb, and each code cell is followed by a Result note. Steps 1-4 build the dataset (8,696 points after 10 no-data points dropped). Steps 5-6 pick the model. Steps 7-8 turn it into a map and a risk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Neighbouring points have almost the same slope, rain and vegetation. In a random split, a test point usually has a near-twin in training, so the model can memorise places and still look great. Spatial block CV cuts the area into roughly 5 km blocks and holds out whole blocks, 5 folds, so the test is on genuinely new ground, which is how the map is used. The temporal test asks whether the past predicts a future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in pairs. Every model drops when whole blocks are held out, but XGBoost drops the most, 0.967 to 0.851, a loss of 0.116. It was partly memorising locations, which only shows up on new ground. ANN is best under spatial CV at 0.901 with default settings. Temporal test: 0.77 to 0.82 on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percent of points are held out as a final test set. On the other 85 percent, each model gets a random search over 20 settings, scored by 5-fold spatial block CV so tuning cannot reward memorisation. Gains are small, at most 0.019 for SVM. XGBoost's random score fell 0.969 to 0.934 while its spatial score rose 0.851 to 0.860: it over-fits less. Final SVM: RBF kernel, C = 1.31, gamma = 0.027. Probabilities via CalibratedClassifierCV. Kappa 0.66 is 'substantial' on Landis and Koch.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Permutation importance: shuffle one factor's values and measure how much ROC-AUC drops. Computed for random forest and XGBoost on the random test split. Slope is first for RF, matching slope-stability mechanics. Rainfall is first for XGBoost, but the CHIRPS grid is about 5.5 km, so there are few distinct values and it may partly act as a location label. Northness may reflect moisture and vegetation differences between north and south faces. TWI, drainage and soil clay come from coarse 90-250 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tuned SVM was run on all 2.62 million 30 m pixels with ~2024 imagery, and probabilities split into five zones at 0.2 steps. Frequency ratio is a zone's share of landslides divided by its share of area. It rises from 0.06 to 6.45, and 83.3 percent of slides fall in High plus Very High. Caveat: these landslides were used in training, so this is a consistency check. The independent test is the spatial CV. Red follows the steep dissected hills east of the Beas and the Shivalik ridges; green is valleys and terraces.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Overlay with GRIP4 roads, ESA WorldCover built-up land and GHSL 2020 population. Most people (74 percent) and buildings (88 percent) are in the Very Low zone on terraces and valley floors. Roads have to cross the hills, so 10.5 percent of major roads are in High or Very High. By district, the Kangra part has the most High and Very High ground at 28.2 percent, then Mandi 22.8 and Hamirpur 13.7. 40 stretches of 300 m or more, 17.5 km in total and 37 of them tertiary roads, are the first candidates for slope protection and drainage.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from Cell 16: NDVI rose from about 0.57 to 0.64, so the area got greener, and 2023 slides were not concentrated where vegetation was lost. 101 M3+ earthquakes within 150 km since 2005; all landslides are recorded as rainfall-triggered, so earthquakes are unlikely to explain them. Limitations: no geology layer although 76.6 percent of slides are in coarse sandstone and boulder conglomerate; 2023 is about 83 percent of the inventory; coarse rainfall, soil and hydrology data; ~2016 imagery is effectively 2017; c and phi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idea worth remembering: how you test a spatial model matters more than which model you pick. Then the practical output: the priority road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rtlCol="0" anchor="ctr"/>
          <a:lstStyle/>
          <a:p>
            <a:pPr indent="0" marL="0">
              <a:buNone/>
            </a:pPr>
            <a:r>
              <a:rPr lang="en-US" sz="1000" dirty="0">
                <a:solidFill>
                  <a:schemeClr val="accent5"/>
                </a:solidFill>
              </a:rPr>
              <a:t>Landslide susceptibility, Hamirpur and south Kangra  |  Subham Agrawal, IIT Jodhpur</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Map backdrop" descr="/tmp/claude-0/ppt/susc.jpg">    </p:cNvPr>
          <p:cNvPicPr>
            <a:picLocks noChangeAspect="1"/>
          </p:cNvPicPr>
          <p:nvPr/>
        </p:nvPicPr>
        <p:blipFill>
          <a:blip r:embed="rId1">
            <a:alphaModFix amt="85000"/>
          </a:blip>
          <a:srcRect l="0" r="0" t="0" b="0"/>
          <a:stretch/>
        </p:blipFill>
        <p:spPr>
          <a:xfrm>
            <a:off x="6675120" y="0"/>
            <a:ext cx="5513832" cy="6858000"/>
          </a:xfrm>
          <a:prstGeom prst="rect">
            <a:avLst/>
          </a:prstGeom>
        </p:spPr>
      </p:pic>
      <p:sp>
        <p:nvSpPr>
          <p:cNvPr id="3" name="Text 0"/>
          <p:cNvSpPr txBox="1"/>
          <p:nvPr/>
        </p:nvSpPr>
        <p:spPr>
          <a:xfrm>
            <a:off x="548640" y="1097280"/>
            <a:ext cx="5852160" cy="365760"/>
          </a:xfrm>
          <a:prstGeom prst="rect">
            <a:avLst/>
          </a:prstGeom>
          <a:noFill/>
          <a:ln/>
        </p:spPr>
        <p:txBody>
          <a:bodyPr wrap="square" lIns="0" tIns="0" rIns="0" bIns="0" rtlCol="0" anchor="ctr"/>
          <a:lstStyle/>
          <a:p>
            <a:pPr indent="0" marL="0">
              <a:buNone/>
            </a:pPr>
            <a:r>
              <a:rPr lang="en-US" sz="1400" b="1" dirty="0">
                <a:solidFill>
                  <a:schemeClr val="accent3"/>
                </a:solidFill>
              </a:rPr>
              <a:t>B.Tech Project  ·  IIT Jodhpur  ·  2026</a:t>
            </a:r>
            <a:endParaRPr lang="en-US" sz="1400" dirty="0"/>
          </a:p>
        </p:txBody>
      </p:sp>
      <p:sp>
        <p:nvSpPr>
          <p:cNvPr id="4" name="Text 1"/>
          <p:cNvSpPr txBox="1"/>
          <p:nvPr/>
        </p:nvSpPr>
        <p:spPr>
          <a:xfrm>
            <a:off x="548640" y="1645920"/>
            <a:ext cx="5943600" cy="146304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Where will the hills fail next?</a:t>
            </a:r>
            <a:endParaRPr lang="en-US" sz="4000" dirty="0"/>
          </a:p>
        </p:txBody>
      </p:sp>
      <p:sp>
        <p:nvSpPr>
          <p:cNvPr id="5" name="Text 2"/>
          <p:cNvSpPr txBox="1"/>
          <p:nvPr/>
        </p:nvSpPr>
        <p:spPr>
          <a:xfrm>
            <a:off x="548640" y="3200400"/>
            <a:ext cx="5852160" cy="1097280"/>
          </a:xfrm>
          <a:prstGeom prst="rect">
            <a:avLst/>
          </a:prstGeom>
          <a:noFill/>
          <a:ln/>
        </p:spPr>
        <p:txBody>
          <a:bodyPr wrap="square" lIns="0" tIns="0" rIns="0" bIns="0" rtlCol="0" anchor="t"/>
          <a:lstStyle/>
          <a:p>
            <a:pPr indent="0" marL="0">
              <a:buNone/>
            </a:pPr>
            <a:r>
              <a:rPr lang="en-US" sz="1800" dirty="0">
                <a:solidFill>
                  <a:schemeClr val="bg2"/>
                </a:solidFill>
              </a:rPr>
              <a:t>Landslide susceptibility mapping of Hamirpur and south Kangra, Himachal Pradesh, using GIS and machine learning</a:t>
            </a:r>
            <a:endParaRPr lang="en-US" sz="1800" dirty="0"/>
          </a:p>
        </p:txBody>
      </p:sp>
      <p:sp>
        <p:nvSpPr>
          <p:cNvPr id="6" name="Text 3"/>
          <p:cNvSpPr txBox="1"/>
          <p:nvPr/>
        </p:nvSpPr>
        <p:spPr>
          <a:xfrm>
            <a:off x="548640" y="4846320"/>
            <a:ext cx="5943600" cy="1097280"/>
          </a:xfrm>
          <a:prstGeom prst="rect">
            <a:avLst/>
          </a:prstGeom>
          <a:noFill/>
          <a:ln/>
        </p:spPr>
        <p:txBody>
          <a:bodyPr wrap="square" lIns="0" tIns="0" rIns="0" bIns="0" rtlCol="0" anchor="t"/>
          <a:lstStyle/>
          <a:p>
            <a:pPr indent="0" marL="0">
              <a:buNone/>
            </a:pPr>
            <a:r>
              <a:rPr lang="en-US" sz="1300" b="1" dirty="0">
                <a:solidFill>
                  <a:schemeClr val="bg2"/>
                </a:solidFill>
              </a:rPr>
              <a:t>Subham Agrawal (B23CI1038)</a:t>
            </a:r>
            <a:endParaRPr lang="en-US" sz="1300" dirty="0"/>
          </a:p>
          <a:p>
            <a:pPr indent="0" marL="0">
              <a:buNone/>
            </a:pPr>
            <a:r>
              <a:rPr lang="en-US" sz="1300" dirty="0">
                <a:solidFill>
                  <a:schemeClr val="bg2"/>
                </a:solidFill>
              </a:rPr>
              <a:t>Department of Civil and Infrastructure Engineering</a:t>
            </a:r>
            <a:endParaRPr lang="en-US" sz="1300" dirty="0"/>
          </a:p>
          <a:p>
            <a:pPr indent="0" marL="0">
              <a:buNone/>
            </a:pPr>
            <a:r>
              <a:rPr lang="en-US" sz="1300" dirty="0">
                <a:solidFill>
                  <a:schemeClr val="bg2"/>
                </a:solidFill>
              </a:rPr>
              <a:t>Supervisor: Prof. Susmita Panda  ·  Co-supervisor: Prof. Nallala Sarath Chandra Reddy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Every monsoon, landslides cut roads in the Shivalik hills</a:t>
            </a:r>
            <a:endParaRPr lang="en-US" sz="3200" dirty="0"/>
          </a:p>
        </p:txBody>
      </p:sp>
      <p:sp>
        <p:nvSpPr>
          <p:cNvPr id="4" name="Text 1"/>
          <p:cNvSpPr txBox="1"/>
          <p:nvPr/>
        </p:nvSpPr>
        <p:spPr>
          <a:xfrm>
            <a:off x="548640" y="1371600"/>
            <a:ext cx="5852160" cy="4389120"/>
          </a:xfrm>
          <a:prstGeom prst="rect">
            <a:avLst/>
          </a:prstGeom>
          <a:noFill/>
          <a:ln/>
        </p:spPr>
        <p:txBody>
          <a:bodyPr wrap="square" rtlCol="0" anchor="t"/>
          <a:lstStyle/>
          <a:p>
            <a:pPr marL="342900" indent="-342900">
              <a:spcAft>
                <a:spcPts val="800"/>
              </a:spcAft>
              <a:buSzPct val="100000"/>
              <a:buChar char="•"/>
            </a:pPr>
            <a:r>
              <a:rPr lang="en-US" sz="1600" b="1" dirty="0">
                <a:solidFill>
                  <a:schemeClr val="tx1"/>
                </a:solidFill>
              </a:rPr>
              <a:t>Goal: a 30 m map of where landslides are likely, learned from past landslides</a:t>
            </a:r>
            <a:endParaRPr lang="en-US" sz="1600" dirty="0"/>
          </a:p>
          <a:p>
            <a:pPr marL="342900" indent="-342900">
              <a:spcAft>
                <a:spcPts val="800"/>
              </a:spcAft>
              <a:buSzPct val="100000"/>
              <a:buChar char="•"/>
            </a:pPr>
            <a:r>
              <a:rPr lang="en-US" sz="1600" dirty="0">
                <a:solidFill>
                  <a:schemeClr val="tx1"/>
                </a:solidFill>
              </a:rPr>
              <a:t>Weak sandstone, conglomerate and clay hills, about 1,860 mm of rain a year</a:t>
            </a:r>
            <a:endParaRPr lang="en-US" sz="1600" dirty="0"/>
          </a:p>
          <a:p>
            <a:pPr marL="342900" indent="-342900">
              <a:spcAft>
                <a:spcPts val="800"/>
              </a:spcAft>
              <a:buSzPct val="100000"/>
              <a:buChar char="•"/>
            </a:pPr>
            <a:r>
              <a:rPr lang="en-US" sz="1600" dirty="0">
                <a:solidFill>
                  <a:schemeClr val="tx1"/>
                </a:solidFill>
              </a:rPr>
              <a:t>ISRO's Bhuvan portal has mapped every landslide after the 2014, 2017 and 2023 monsoons</a:t>
            </a:r>
            <a:endParaRPr lang="en-US" sz="1600" dirty="0"/>
          </a:p>
          <a:p>
            <a:pPr marL="342900" indent="-342900">
              <a:spcAft>
                <a:spcPts val="800"/>
              </a:spcAft>
              <a:buSzPct val="100000"/>
              <a:buChar char="•"/>
            </a:pPr>
            <a:r>
              <a:rPr lang="en-US" sz="1600" dirty="0">
                <a:solidFill>
                  <a:schemeClr val="tx1"/>
                </a:solidFill>
              </a:rPr>
              <a:t>Five objectives: inventory and factors, compare ML models, susceptibility map, key factors, risk framework for roads and people</a:t>
            </a:r>
            <a:endParaRPr lang="en-US" sz="1600" dirty="0"/>
          </a:p>
        </p:txBody>
      </p:sp>
      <p:sp>
        <p:nvSpPr>
          <p:cNvPr id="5" name="Stat card"/>
          <p:cNvSpPr/>
          <p:nvPr/>
        </p:nvSpPr>
        <p:spPr>
          <a:xfrm>
            <a:off x="6949440" y="1371600"/>
            <a:ext cx="2240280" cy="1325880"/>
          </a:xfrm>
          <a:prstGeom prst="roundRect">
            <a:avLst>
              <a:gd name="adj" fmla="val 5517"/>
            </a:avLst>
          </a:prstGeom>
          <a:solidFill>
            <a:schemeClr val="bg2"/>
          </a:solidFill>
          <a:ln/>
        </p:spPr>
      </p:sp>
      <p:sp>
        <p:nvSpPr>
          <p:cNvPr id="6" name="Text 3"/>
          <p:cNvSpPr txBox="1"/>
          <p:nvPr/>
        </p:nvSpPr>
        <p:spPr>
          <a:xfrm>
            <a:off x="7132320" y="1481328"/>
            <a:ext cx="18745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4,431</a:t>
            </a:r>
            <a:endParaRPr lang="en-US" sz="3600" dirty="0"/>
          </a:p>
        </p:txBody>
      </p:sp>
      <p:sp>
        <p:nvSpPr>
          <p:cNvPr id="7" name="Text 4"/>
          <p:cNvSpPr txBox="1"/>
          <p:nvPr/>
        </p:nvSpPr>
        <p:spPr>
          <a:xfrm>
            <a:off x="7132320" y="2176272"/>
            <a:ext cx="1874520" cy="457200"/>
          </a:xfrm>
          <a:prstGeom prst="rect">
            <a:avLst/>
          </a:prstGeom>
          <a:noFill/>
          <a:ln/>
        </p:spPr>
        <p:txBody>
          <a:bodyPr wrap="square" lIns="0" tIns="0" rIns="0" bIns="0" rtlCol="0" anchor="t"/>
          <a:lstStyle/>
          <a:p>
            <a:pPr indent="0" marL="0">
              <a:buNone/>
            </a:pPr>
            <a:r>
              <a:rPr lang="en-US" sz="1300" dirty="0">
                <a:solidFill>
                  <a:schemeClr val="tx1"/>
                </a:solidFill>
              </a:rPr>
              <a:t>mapped landslides in the study area</a:t>
            </a:r>
            <a:endParaRPr lang="en-US" sz="1300" dirty="0"/>
          </a:p>
        </p:txBody>
      </p:sp>
      <p:sp>
        <p:nvSpPr>
          <p:cNvPr id="8" name="Stat card"/>
          <p:cNvSpPr/>
          <p:nvPr/>
        </p:nvSpPr>
        <p:spPr>
          <a:xfrm>
            <a:off x="9372600" y="1371600"/>
            <a:ext cx="2240280" cy="1325880"/>
          </a:xfrm>
          <a:prstGeom prst="roundRect">
            <a:avLst>
              <a:gd name="adj" fmla="val 5517"/>
            </a:avLst>
          </a:prstGeom>
          <a:solidFill>
            <a:schemeClr val="bg2"/>
          </a:solidFill>
          <a:ln/>
        </p:spPr>
      </p:sp>
      <p:sp>
        <p:nvSpPr>
          <p:cNvPr id="9" name="Text 6"/>
          <p:cNvSpPr txBox="1"/>
          <p:nvPr/>
        </p:nvSpPr>
        <p:spPr>
          <a:xfrm>
            <a:off x="9555480" y="1481328"/>
            <a:ext cx="187452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2,360</a:t>
            </a:r>
            <a:endParaRPr lang="en-US" sz="3600" dirty="0"/>
          </a:p>
        </p:txBody>
      </p:sp>
      <p:sp>
        <p:nvSpPr>
          <p:cNvPr id="10" name="Text 7"/>
          <p:cNvSpPr txBox="1"/>
          <p:nvPr/>
        </p:nvSpPr>
        <p:spPr>
          <a:xfrm>
            <a:off x="9555480" y="2176272"/>
            <a:ext cx="1874520" cy="457200"/>
          </a:xfrm>
          <a:prstGeom prst="rect">
            <a:avLst/>
          </a:prstGeom>
          <a:noFill/>
          <a:ln/>
        </p:spPr>
        <p:txBody>
          <a:bodyPr wrap="square" lIns="0" tIns="0" rIns="0" bIns="0" rtlCol="0" anchor="t"/>
          <a:lstStyle/>
          <a:p>
            <a:pPr indent="0" marL="0">
              <a:buNone/>
            </a:pPr>
            <a:r>
              <a:rPr lang="en-US" sz="1300" dirty="0">
                <a:solidFill>
                  <a:schemeClr val="tx1"/>
                </a:solidFill>
              </a:rPr>
              <a:t>km² of hills around Hamirpur</a:t>
            </a:r>
            <a:endParaRPr lang="en-US" sz="1300" dirty="0"/>
          </a:p>
        </p:txBody>
      </p:sp>
      <p:sp>
        <p:nvSpPr>
          <p:cNvPr id="11" name="Stat card"/>
          <p:cNvSpPr/>
          <p:nvPr/>
        </p:nvSpPr>
        <p:spPr>
          <a:xfrm>
            <a:off x="6949440" y="2926080"/>
            <a:ext cx="2240280" cy="1325880"/>
          </a:xfrm>
          <a:prstGeom prst="roundRect">
            <a:avLst>
              <a:gd name="adj" fmla="val 5517"/>
            </a:avLst>
          </a:prstGeom>
          <a:solidFill>
            <a:schemeClr val="bg2"/>
          </a:solidFill>
          <a:ln/>
        </p:spPr>
      </p:sp>
      <p:sp>
        <p:nvSpPr>
          <p:cNvPr id="12" name="Text 9"/>
          <p:cNvSpPr txBox="1"/>
          <p:nvPr/>
        </p:nvSpPr>
        <p:spPr>
          <a:xfrm>
            <a:off x="7132320" y="3035808"/>
            <a:ext cx="187452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14</a:t>
            </a:r>
            <a:endParaRPr lang="en-US" sz="3600" dirty="0"/>
          </a:p>
        </p:txBody>
      </p:sp>
      <p:sp>
        <p:nvSpPr>
          <p:cNvPr id="13" name="Text 10"/>
          <p:cNvSpPr txBox="1"/>
          <p:nvPr/>
        </p:nvSpPr>
        <p:spPr>
          <a:xfrm>
            <a:off x="7132320" y="3730752"/>
            <a:ext cx="1874520" cy="457200"/>
          </a:xfrm>
          <a:prstGeom prst="rect">
            <a:avLst/>
          </a:prstGeom>
          <a:noFill/>
          <a:ln/>
        </p:spPr>
        <p:txBody>
          <a:bodyPr wrap="square" lIns="0" tIns="0" rIns="0" bIns="0" rtlCol="0" anchor="t"/>
          <a:lstStyle/>
          <a:p>
            <a:pPr indent="0" marL="0">
              <a:buNone/>
            </a:pPr>
            <a:r>
              <a:rPr lang="en-US" sz="1300" dirty="0">
                <a:solidFill>
                  <a:schemeClr val="tx1"/>
                </a:solidFill>
              </a:rPr>
              <a:t>ground factors per point</a:t>
            </a:r>
            <a:endParaRPr lang="en-US" sz="1300" dirty="0"/>
          </a:p>
        </p:txBody>
      </p:sp>
      <p:sp>
        <p:nvSpPr>
          <p:cNvPr id="14" name="Stat card"/>
          <p:cNvSpPr/>
          <p:nvPr/>
        </p:nvSpPr>
        <p:spPr>
          <a:xfrm>
            <a:off x="9372600" y="2926080"/>
            <a:ext cx="2240280" cy="1325880"/>
          </a:xfrm>
          <a:prstGeom prst="roundRect">
            <a:avLst>
              <a:gd name="adj" fmla="val 5517"/>
            </a:avLst>
          </a:prstGeom>
          <a:solidFill>
            <a:schemeClr val="bg2"/>
          </a:solidFill>
          <a:ln/>
        </p:spPr>
      </p:sp>
      <p:sp>
        <p:nvSpPr>
          <p:cNvPr id="15" name="Text 12"/>
          <p:cNvSpPr txBox="1"/>
          <p:nvPr/>
        </p:nvSpPr>
        <p:spPr>
          <a:xfrm>
            <a:off x="9555480" y="3035808"/>
            <a:ext cx="18745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2.62 M</a:t>
            </a:r>
            <a:endParaRPr lang="en-US" sz="3600" dirty="0"/>
          </a:p>
        </p:txBody>
      </p:sp>
      <p:sp>
        <p:nvSpPr>
          <p:cNvPr id="16" name="Text 13"/>
          <p:cNvSpPr txBox="1"/>
          <p:nvPr/>
        </p:nvSpPr>
        <p:spPr>
          <a:xfrm>
            <a:off x="9555480" y="3730752"/>
            <a:ext cx="1874520" cy="457200"/>
          </a:xfrm>
          <a:prstGeom prst="rect">
            <a:avLst/>
          </a:prstGeom>
          <a:noFill/>
          <a:ln/>
        </p:spPr>
        <p:txBody>
          <a:bodyPr wrap="square" lIns="0" tIns="0" rIns="0" bIns="0" rtlCol="0" anchor="t"/>
          <a:lstStyle/>
          <a:p>
            <a:pPr indent="0" marL="0">
              <a:buNone/>
            </a:pPr>
            <a:r>
              <a:rPr lang="en-US" sz="1300" dirty="0">
                <a:solidFill>
                  <a:schemeClr val="tx1"/>
                </a:solidFill>
              </a:rPr>
              <a:t>30 m pixels mapped</a:t>
            </a:r>
            <a:endParaRPr lang="en-US" sz="1300" dirty="0"/>
          </a:p>
        </p:txBody>
      </p:sp>
      <p:sp>
        <p:nvSpPr>
          <p:cNvPr id="17" name="Stat card"/>
          <p:cNvSpPr/>
          <p:nvPr/>
        </p:nvSpPr>
        <p:spPr>
          <a:xfrm>
            <a:off x="6949440" y="4480560"/>
            <a:ext cx="4663440" cy="1325880"/>
          </a:xfrm>
          <a:prstGeom prst="roundRect">
            <a:avLst>
              <a:gd name="adj" fmla="val 5517"/>
            </a:avLst>
          </a:prstGeom>
          <a:solidFill>
            <a:schemeClr val="bg2"/>
          </a:solidFill>
          <a:ln/>
        </p:spPr>
      </p:sp>
      <p:sp>
        <p:nvSpPr>
          <p:cNvPr id="18" name="Text 15"/>
          <p:cNvSpPr txBox="1"/>
          <p:nvPr/>
        </p:nvSpPr>
        <p:spPr>
          <a:xfrm>
            <a:off x="7132320" y="4590288"/>
            <a:ext cx="429768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0.905</a:t>
            </a:r>
            <a:endParaRPr lang="en-US" sz="3600" dirty="0"/>
          </a:p>
        </p:txBody>
      </p:sp>
      <p:sp>
        <p:nvSpPr>
          <p:cNvPr id="19" name="Text 16"/>
          <p:cNvSpPr txBox="1"/>
          <p:nvPr/>
        </p:nvSpPr>
        <p:spPr>
          <a:xfrm>
            <a:off x="7132320" y="5285232"/>
            <a:ext cx="4297680" cy="457200"/>
          </a:xfrm>
          <a:prstGeom prst="rect">
            <a:avLst/>
          </a:prstGeom>
          <a:noFill/>
          <a:ln/>
        </p:spPr>
        <p:txBody>
          <a:bodyPr wrap="square" lIns="0" tIns="0" rIns="0" bIns="0" rtlCol="0" anchor="t"/>
          <a:lstStyle/>
          <a:p>
            <a:pPr indent="0" marL="0">
              <a:buNone/>
            </a:pPr>
            <a:r>
              <a:rPr lang="en-US" sz="1300" dirty="0">
                <a:solidFill>
                  <a:schemeClr val="tx1"/>
                </a:solidFill>
              </a:rPr>
              <a:t>ROC-AUC of the final model on areas it never saw</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Study area: the densest landslide ground in Himachal</a:t>
            </a:r>
            <a:endParaRPr lang="en-US" sz="3200" dirty="0"/>
          </a:p>
        </p:txBody>
      </p:sp>
      <p:pic>
        <p:nvPicPr>
          <p:cNvPr id="4" name="Study area map" descr="/tmp/claude-0/ppt/study.jpg">    </p:cNvPr>
          <p:cNvPicPr>
            <a:picLocks noChangeAspect="1"/>
          </p:cNvPicPr>
          <p:nvPr/>
        </p:nvPicPr>
        <p:blipFill>
          <a:blip r:embed="rId1"/>
          <a:stretch>
            <a:fillRect/>
          </a:stretch>
        </p:blipFill>
        <p:spPr>
          <a:xfrm>
            <a:off x="548640" y="1280160"/>
            <a:ext cx="7680960" cy="3822192"/>
          </a:xfrm>
          <a:prstGeom prst="rect">
            <a:avLst/>
          </a:prstGeom>
        </p:spPr>
      </p:pic>
      <p:sp>
        <p:nvSpPr>
          <p:cNvPr id="5" name="Text 1"/>
          <p:cNvSpPr txBox="1"/>
          <p:nvPr/>
        </p:nvSpPr>
        <p:spPr>
          <a:xfrm>
            <a:off x="8503920" y="1280160"/>
            <a:ext cx="3200400" cy="475488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76.28-76.75°E, 31.55-32.03°N</a:t>
            </a:r>
            <a:endParaRPr lang="en-US" sz="1500" dirty="0"/>
          </a:p>
          <a:p>
            <a:pPr marL="342900" indent="-342900">
              <a:spcAft>
                <a:spcPts val="800"/>
              </a:spcAft>
              <a:buSzPct val="100000"/>
              <a:buChar char="•"/>
            </a:pPr>
            <a:r>
              <a:rPr lang="en-US" sz="1500" dirty="0">
                <a:solidFill>
                  <a:schemeClr val="tx1"/>
                </a:solidFill>
              </a:rPr>
              <a:t>Hamirpur plus parts of Kangra, Mandi, Una and Bilaspur, along the Beas</a:t>
            </a:r>
            <a:endParaRPr lang="en-US" sz="1500" dirty="0"/>
          </a:p>
          <a:p>
            <a:pPr marL="342900" indent="-342900">
              <a:spcAft>
                <a:spcPts val="800"/>
              </a:spcAft>
              <a:buSzPct val="100000"/>
              <a:buChar char="•"/>
            </a:pPr>
            <a:r>
              <a:rPr lang="en-US" sz="1500" dirty="0">
                <a:solidFill>
                  <a:schemeClr val="tx1"/>
                </a:solidFill>
              </a:rPr>
              <a:t>Moved from Kinnaur: too few landslides to train on</a:t>
            </a:r>
            <a:endParaRPr lang="en-US" sz="1500" dirty="0"/>
          </a:p>
          <a:p>
            <a:pPr marL="342900" indent="-342900">
              <a:spcAft>
                <a:spcPts val="800"/>
              </a:spcAft>
              <a:buSzPct val="100000"/>
              <a:buChar char="•"/>
            </a:pPr>
            <a:r>
              <a:rPr lang="en-US" sz="1500" dirty="0">
                <a:solidFill>
                  <a:schemeClr val="tx1"/>
                </a:solidFill>
              </a:rPr>
              <a:t>Box shifted 0.15° north: 3,214 → 4,431 landslides</a:t>
            </a:r>
            <a:endParaRPr lang="en-US" sz="1500" dirty="0"/>
          </a:p>
          <a:p>
            <a:pPr marL="342900" indent="-342900">
              <a:spcAft>
                <a:spcPts val="800"/>
              </a:spcAft>
              <a:buSzPct val="100000"/>
              <a:buChar char="•"/>
            </a:pPr>
            <a:r>
              <a:rPr lang="en-US" sz="1500" dirty="0">
                <a:solidFill>
                  <a:schemeClr val="tx1"/>
                </a:solidFill>
              </a:rPr>
              <a:t>All raster work in UTM 43N (true metres)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Pulling Bhuvan's landslides without a download button</a:t>
            </a:r>
            <a:endParaRPr lang="en-US" sz="3200" dirty="0"/>
          </a:p>
        </p:txBody>
      </p:sp>
      <p:pic>
        <p:nvPicPr>
          <p:cNvPr id="4" name="Inventory map" descr="/tmp/claude-0/ppt/inv.jpg">    </p:cNvPr>
          <p:cNvPicPr>
            <a:picLocks noChangeAspect="1"/>
          </p:cNvPicPr>
          <p:nvPr/>
        </p:nvPicPr>
        <p:blipFill>
          <a:blip r:embed="rId1"/>
          <a:stretch>
            <a:fillRect/>
          </a:stretch>
        </p:blipFill>
        <p:spPr>
          <a:xfrm>
            <a:off x="548640" y="1280160"/>
            <a:ext cx="6583680" cy="3291840"/>
          </a:xfrm>
          <a:prstGeom prst="rect">
            <a:avLst/>
          </a:prstGeom>
        </p:spPr>
      </p:pic>
      <p:sp>
        <p:nvSpPr>
          <p:cNvPr id="5" name="Text 1"/>
          <p:cNvSpPr txBox="1"/>
          <p:nvPr/>
        </p:nvSpPr>
        <p:spPr>
          <a:xfrm>
            <a:off x="548640" y="4709160"/>
            <a:ext cx="6583680" cy="731520"/>
          </a:xfrm>
          <a:prstGeom prst="rect">
            <a:avLst/>
          </a:prstGeom>
          <a:noFill/>
          <a:ln/>
        </p:spPr>
        <p:txBody>
          <a:bodyPr wrap="square" lIns="0" tIns="0" rIns="0" bIns="0" rtlCol="0" anchor="t"/>
          <a:lstStyle/>
          <a:p>
            <a:pPr indent="0" marL="0">
              <a:buNone/>
            </a:pPr>
            <a:r>
              <a:rPr lang="en-US" sz="1400" i="1" dirty="0">
                <a:solidFill>
                  <a:schemeClr val="accent4"/>
                </a:solidFill>
              </a:rPr>
              <a:t>Whole state as one 1x1 pixel → one WMS GetFeatureInfo request returns every polygon. (Right panel shows the first box, before the 0.15° shift north.)</a:t>
            </a:r>
            <a:endParaRPr lang="en-US" sz="1400" dirty="0"/>
          </a:p>
        </p:txBody>
      </p:sp>
      <p:sp>
        <p:nvSpPr>
          <p:cNvPr id="6" name="Card"/>
          <p:cNvSpPr/>
          <p:nvPr/>
        </p:nvSpPr>
        <p:spPr>
          <a:xfrm>
            <a:off x="7498080" y="1280160"/>
            <a:ext cx="4114800" cy="1463040"/>
          </a:xfrm>
          <a:prstGeom prst="roundRect">
            <a:avLst>
              <a:gd name="adj" fmla="val 5000"/>
            </a:avLst>
          </a:prstGeom>
          <a:solidFill>
            <a:schemeClr val="bg2"/>
          </a:solidFill>
          <a:ln/>
        </p:spPr>
      </p:sp>
      <p:sp>
        <p:nvSpPr>
          <p:cNvPr id="7" name="Text 3"/>
          <p:cNvSpPr txBox="1"/>
          <p:nvPr/>
        </p:nvSpPr>
        <p:spPr>
          <a:xfrm>
            <a:off x="7726680" y="1463040"/>
            <a:ext cx="365760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14,664 landslides in HP</a:t>
            </a:r>
            <a:endParaRPr lang="en-US" sz="1900" dirty="0"/>
          </a:p>
        </p:txBody>
      </p:sp>
      <p:sp>
        <p:nvSpPr>
          <p:cNvPr id="8" name="Text 4"/>
          <p:cNvSpPr txBox="1"/>
          <p:nvPr/>
        </p:nvSpPr>
        <p:spPr>
          <a:xfrm>
            <a:off x="7726680" y="1965960"/>
            <a:ext cx="3657600" cy="594360"/>
          </a:xfrm>
          <a:prstGeom prst="rect">
            <a:avLst/>
          </a:prstGeom>
          <a:noFill/>
          <a:ln/>
        </p:spPr>
        <p:txBody>
          <a:bodyPr wrap="square" lIns="0" tIns="0" rIns="0" bIns="0" rtlCol="0" anchor="t"/>
          <a:lstStyle/>
          <a:p>
            <a:pPr indent="0" marL="0">
              <a:buNone/>
            </a:pPr>
            <a:r>
              <a:rPr lang="en-US" sz="1500" dirty="0">
                <a:solidFill>
                  <a:schemeClr val="tx1"/>
                </a:solidFill>
              </a:rPr>
              <a:t>698 + 39 + 3,694 = 4,431 inside the study box (2014, 2017, 2023)</a:t>
            </a:r>
            <a:endParaRPr lang="en-US" sz="1500" dirty="0"/>
          </a:p>
        </p:txBody>
      </p:sp>
      <p:sp>
        <p:nvSpPr>
          <p:cNvPr id="9" name="Card"/>
          <p:cNvSpPr/>
          <p:nvPr/>
        </p:nvSpPr>
        <p:spPr>
          <a:xfrm>
            <a:off x="7498080" y="2926080"/>
            <a:ext cx="4114800" cy="1463040"/>
          </a:xfrm>
          <a:prstGeom prst="roundRect">
            <a:avLst>
              <a:gd name="adj" fmla="val 5000"/>
            </a:avLst>
          </a:prstGeom>
          <a:solidFill>
            <a:schemeClr val="bg2"/>
          </a:solidFill>
          <a:ln/>
        </p:spPr>
      </p:sp>
      <p:sp>
        <p:nvSpPr>
          <p:cNvPr id="10" name="Text 6"/>
          <p:cNvSpPr txBox="1"/>
          <p:nvPr/>
        </p:nvSpPr>
        <p:spPr>
          <a:xfrm>
            <a:off x="7726680" y="3108960"/>
            <a:ext cx="365760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4,353 landslide points</a:t>
            </a:r>
            <a:endParaRPr lang="en-US" sz="1900" dirty="0"/>
          </a:p>
        </p:txBody>
      </p:sp>
      <p:sp>
        <p:nvSpPr>
          <p:cNvPr id="11" name="Text 7"/>
          <p:cNvSpPr txBox="1"/>
          <p:nvPr/>
        </p:nvSpPr>
        <p:spPr>
          <a:xfrm>
            <a:off x="7726680" y="3611880"/>
            <a:ext cx="3657600" cy="594360"/>
          </a:xfrm>
          <a:prstGeom prst="rect">
            <a:avLst/>
          </a:prstGeom>
          <a:noFill/>
          <a:ln/>
        </p:spPr>
        <p:txBody>
          <a:bodyPr wrap="square" lIns="0" tIns="0" rIns="0" bIns="0" rtlCol="0" anchor="t"/>
          <a:lstStyle/>
          <a:p>
            <a:pPr indent="0" marL="0">
              <a:buNone/>
            </a:pPr>
            <a:r>
              <a:rPr lang="en-US" sz="1500" dirty="0">
                <a:solidFill>
                  <a:schemeClr val="tx1"/>
                </a:solidFill>
              </a:rPr>
              <a:t>after merging slides that fall in the same 30 m pixel</a:t>
            </a:r>
            <a:endParaRPr lang="en-US" sz="1500" dirty="0"/>
          </a:p>
        </p:txBody>
      </p:sp>
      <p:sp>
        <p:nvSpPr>
          <p:cNvPr id="12" name="Card"/>
          <p:cNvSpPr/>
          <p:nvPr/>
        </p:nvSpPr>
        <p:spPr>
          <a:xfrm>
            <a:off x="7498080" y="4572000"/>
            <a:ext cx="4114800" cy="1463040"/>
          </a:xfrm>
          <a:prstGeom prst="roundRect">
            <a:avLst>
              <a:gd name="adj" fmla="val 5000"/>
            </a:avLst>
          </a:prstGeom>
          <a:solidFill>
            <a:schemeClr val="bg2"/>
          </a:solidFill>
          <a:ln/>
        </p:spPr>
      </p:sp>
      <p:sp>
        <p:nvSpPr>
          <p:cNvPr id="13" name="Text 9"/>
          <p:cNvSpPr txBox="1"/>
          <p:nvPr/>
        </p:nvSpPr>
        <p:spPr>
          <a:xfrm>
            <a:off x="7726680" y="4754880"/>
            <a:ext cx="365760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+4,353 stable points</a:t>
            </a:r>
            <a:endParaRPr lang="en-US" sz="1900" dirty="0"/>
          </a:p>
        </p:txBody>
      </p:sp>
      <p:sp>
        <p:nvSpPr>
          <p:cNvPr id="14" name="Text 10"/>
          <p:cNvSpPr txBox="1"/>
          <p:nvPr/>
        </p:nvSpPr>
        <p:spPr>
          <a:xfrm>
            <a:off x="7726680" y="5257800"/>
            <a:ext cx="3657600" cy="594360"/>
          </a:xfrm>
          <a:prstGeom prst="rect">
            <a:avLst/>
          </a:prstGeom>
          <a:noFill/>
          <a:ln/>
        </p:spPr>
        <p:txBody>
          <a:bodyPr wrap="square" lIns="0" tIns="0" rIns="0" bIns="0" rtlCol="0" anchor="t"/>
          <a:lstStyle/>
          <a:p>
            <a:pPr indent="0" marL="0">
              <a:buNone/>
            </a:pPr>
            <a:r>
              <a:rPr lang="en-US" sz="1500" dirty="0">
                <a:solidFill>
                  <a:schemeClr val="tx1"/>
                </a:solidFill>
              </a:rPr>
              <a:t>0.5-3 km from a slide: mapped ground, but not a slide</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Fourteen ground factors from satellite data in Earth Engine</a:t>
            </a:r>
            <a:endParaRPr lang="en-US" sz="3200" dirty="0"/>
          </a:p>
        </p:txBody>
      </p:sp>
      <p:sp>
        <p:nvSpPr>
          <p:cNvPr id="4" name="Card"/>
          <p:cNvSpPr/>
          <p:nvPr/>
        </p:nvSpPr>
        <p:spPr>
          <a:xfrm>
            <a:off x="548640" y="1371600"/>
            <a:ext cx="3520440" cy="1645920"/>
          </a:xfrm>
          <a:prstGeom prst="roundRect">
            <a:avLst>
              <a:gd name="adj" fmla="val 4444"/>
            </a:avLst>
          </a:prstGeom>
          <a:solidFill>
            <a:schemeClr val="bg2"/>
          </a:solidFill>
          <a:ln/>
        </p:spPr>
      </p:sp>
      <p:sp>
        <p:nvSpPr>
          <p:cNvPr id="5" name="Text 2"/>
          <p:cNvSpPr txBox="1"/>
          <p:nvPr/>
        </p:nvSpPr>
        <p:spPr>
          <a:xfrm>
            <a:off x="777240" y="1554480"/>
            <a:ext cx="306324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Vegetation and land</a:t>
            </a:r>
            <a:endParaRPr lang="en-US" sz="1900" dirty="0"/>
          </a:p>
        </p:txBody>
      </p:sp>
      <p:sp>
        <p:nvSpPr>
          <p:cNvPr id="6" name="Text 3"/>
          <p:cNvSpPr txBox="1"/>
          <p:nvPr/>
        </p:nvSpPr>
        <p:spPr>
          <a:xfrm>
            <a:off x="777240" y="2057400"/>
            <a:ext cx="3063240" cy="777240"/>
          </a:xfrm>
          <a:prstGeom prst="rect">
            <a:avLst/>
          </a:prstGeom>
          <a:noFill/>
          <a:ln/>
        </p:spPr>
        <p:txBody>
          <a:bodyPr wrap="square" lIns="0" tIns="0" rIns="0" bIns="0" rtlCol="0" anchor="t"/>
          <a:lstStyle/>
          <a:p>
            <a:pPr indent="0" marL="0">
              <a:buNone/>
            </a:pPr>
            <a:r>
              <a:rPr lang="en-US" sz="1500" dirty="0">
                <a:solidFill>
                  <a:schemeClr val="tx1"/>
                </a:solidFill>
              </a:rPr>
              <a:t>NDVI, NDWI, NDBI</a:t>
            </a:r>
            <a:endParaRPr lang="en-US" sz="1500" dirty="0"/>
          </a:p>
          <a:p>
            <a:pPr indent="0" marL="0">
              <a:buNone/>
            </a:pPr>
            <a:r>
              <a:rPr lang="en-US" sz="1500" dirty="0">
                <a:solidFill>
                  <a:schemeClr val="tx1"/>
                </a:solidFill>
              </a:rPr>
              <a:t>Landsat 5/7 (~2006), Sentinel-2 (~2016, ~2024)</a:t>
            </a:r>
            <a:endParaRPr lang="en-US" sz="1500" dirty="0"/>
          </a:p>
        </p:txBody>
      </p:sp>
      <p:sp>
        <p:nvSpPr>
          <p:cNvPr id="7" name="Card"/>
          <p:cNvSpPr/>
          <p:nvPr/>
        </p:nvSpPr>
        <p:spPr>
          <a:xfrm>
            <a:off x="4297680" y="1371600"/>
            <a:ext cx="3520440" cy="1645920"/>
          </a:xfrm>
          <a:prstGeom prst="roundRect">
            <a:avLst>
              <a:gd name="adj" fmla="val 4444"/>
            </a:avLst>
          </a:prstGeom>
          <a:solidFill>
            <a:schemeClr val="bg2"/>
          </a:solidFill>
          <a:ln/>
        </p:spPr>
      </p:sp>
      <p:sp>
        <p:nvSpPr>
          <p:cNvPr id="8" name="Text 5"/>
          <p:cNvSpPr txBox="1"/>
          <p:nvPr/>
        </p:nvSpPr>
        <p:spPr>
          <a:xfrm>
            <a:off x="4526280" y="1554480"/>
            <a:ext cx="3063240" cy="457200"/>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Terrain (SRTM 30 m)</a:t>
            </a:r>
            <a:endParaRPr lang="en-US" sz="1900" dirty="0"/>
          </a:p>
        </p:txBody>
      </p:sp>
      <p:sp>
        <p:nvSpPr>
          <p:cNvPr id="9" name="Text 6"/>
          <p:cNvSpPr txBox="1"/>
          <p:nvPr/>
        </p:nvSpPr>
        <p:spPr>
          <a:xfrm>
            <a:off x="4526280" y="2057400"/>
            <a:ext cx="3063240" cy="777240"/>
          </a:xfrm>
          <a:prstGeom prst="rect">
            <a:avLst/>
          </a:prstGeom>
          <a:noFill/>
          <a:ln/>
        </p:spPr>
        <p:txBody>
          <a:bodyPr wrap="square" lIns="0" tIns="0" rIns="0" bIns="0" rtlCol="0" anchor="t"/>
          <a:lstStyle/>
          <a:p>
            <a:pPr indent="0" marL="0">
              <a:buNone/>
            </a:pPr>
            <a:r>
              <a:rPr lang="en-US" sz="1500" dirty="0">
                <a:solidFill>
                  <a:schemeClr val="tx1"/>
                </a:solidFill>
              </a:rPr>
              <a:t>Elevation, slope, plan curvature, northness, eastness</a:t>
            </a:r>
            <a:endParaRPr lang="en-US" sz="1500" dirty="0"/>
          </a:p>
        </p:txBody>
      </p:sp>
      <p:sp>
        <p:nvSpPr>
          <p:cNvPr id="10" name="Card"/>
          <p:cNvSpPr/>
          <p:nvPr/>
        </p:nvSpPr>
        <p:spPr>
          <a:xfrm>
            <a:off x="8046720" y="1371600"/>
            <a:ext cx="3520440" cy="1645920"/>
          </a:xfrm>
          <a:prstGeom prst="roundRect">
            <a:avLst>
              <a:gd name="adj" fmla="val 4444"/>
            </a:avLst>
          </a:prstGeom>
          <a:solidFill>
            <a:schemeClr val="bg2"/>
          </a:solidFill>
          <a:ln/>
        </p:spPr>
      </p:sp>
      <p:sp>
        <p:nvSpPr>
          <p:cNvPr id="11" name="Text 8"/>
          <p:cNvSpPr txBox="1"/>
          <p:nvPr/>
        </p:nvSpPr>
        <p:spPr>
          <a:xfrm>
            <a:off x="8275320" y="1554480"/>
            <a:ext cx="3063240" cy="457200"/>
          </a:xfrm>
          <a:prstGeom prst="rect">
            <a:avLst/>
          </a:prstGeom>
          <a:noFill/>
          <a:ln/>
        </p:spPr>
        <p:txBody>
          <a:bodyPr wrap="square" lIns="0" tIns="0" rIns="0" bIns="0" rtlCol="0" anchor="ctr"/>
          <a:lstStyle/>
          <a:p>
            <a:pPr indent="0" marL="0">
              <a:buNone/>
            </a:pPr>
            <a:r>
              <a:rPr lang="en-US" sz="1900" b="1" dirty="0">
                <a:solidFill>
                  <a:schemeClr val="accent6"/>
                </a:solidFill>
                <a:latin typeface="Cambria" pitchFamily="34" charset="0"/>
                <a:ea typeface="Cambria" pitchFamily="34" charset="-122"/>
                <a:cs typeface="Cambria" pitchFamily="34" charset="-120"/>
              </a:rPr>
              <a:t>Water (MERIT Hydro)</a:t>
            </a:r>
            <a:endParaRPr lang="en-US" sz="1900" dirty="0"/>
          </a:p>
        </p:txBody>
      </p:sp>
      <p:sp>
        <p:nvSpPr>
          <p:cNvPr id="12" name="Text 9"/>
          <p:cNvSpPr txBox="1"/>
          <p:nvPr/>
        </p:nvSpPr>
        <p:spPr>
          <a:xfrm>
            <a:off x="8275320" y="2057400"/>
            <a:ext cx="3063240" cy="777240"/>
          </a:xfrm>
          <a:prstGeom prst="rect">
            <a:avLst/>
          </a:prstGeom>
          <a:noFill/>
          <a:ln/>
        </p:spPr>
        <p:txBody>
          <a:bodyPr wrap="square" lIns="0" tIns="0" rIns="0" bIns="0" rtlCol="0" anchor="t"/>
          <a:lstStyle/>
          <a:p>
            <a:pPr indent="0" marL="0">
              <a:buNone/>
            </a:pPr>
            <a:r>
              <a:rPr lang="en-US" sz="1500" dirty="0">
                <a:solidFill>
                  <a:schemeClr val="tx1"/>
                </a:solidFill>
              </a:rPr>
              <a:t>Wetness index (TWI), drainage density, distance to river</a:t>
            </a:r>
            <a:endParaRPr lang="en-US" sz="1500" dirty="0"/>
          </a:p>
        </p:txBody>
      </p:sp>
      <p:sp>
        <p:nvSpPr>
          <p:cNvPr id="13" name="Card"/>
          <p:cNvSpPr/>
          <p:nvPr/>
        </p:nvSpPr>
        <p:spPr>
          <a:xfrm>
            <a:off x="548640" y="3200400"/>
            <a:ext cx="3520440" cy="1645920"/>
          </a:xfrm>
          <a:prstGeom prst="roundRect">
            <a:avLst>
              <a:gd name="adj" fmla="val 4444"/>
            </a:avLst>
          </a:prstGeom>
          <a:solidFill>
            <a:schemeClr val="bg2"/>
          </a:solidFill>
          <a:ln/>
        </p:spPr>
      </p:sp>
      <p:sp>
        <p:nvSpPr>
          <p:cNvPr id="14" name="Text 11"/>
          <p:cNvSpPr txBox="1"/>
          <p:nvPr/>
        </p:nvSpPr>
        <p:spPr>
          <a:xfrm>
            <a:off x="777240" y="3383280"/>
            <a:ext cx="3063240" cy="457200"/>
          </a:xfrm>
          <a:prstGeom prst="rect">
            <a:avLst/>
          </a:prstGeom>
          <a:noFill/>
          <a:ln/>
        </p:spPr>
        <p:txBody>
          <a:bodyPr wrap="square" lIns="0" tIns="0" rIns="0" bIns="0" rtlCol="0" anchor="ctr"/>
          <a:lstStyle/>
          <a:p>
            <a:pPr indent="0" marL="0">
              <a:buNone/>
            </a:pPr>
            <a:r>
              <a:rPr lang="en-US" sz="1900" b="1" dirty="0">
                <a:solidFill>
                  <a:schemeClr val="accent4"/>
                </a:solidFill>
                <a:latin typeface="Cambria" pitchFamily="34" charset="0"/>
                <a:ea typeface="Cambria" pitchFamily="34" charset="-122"/>
                <a:cs typeface="Cambria" pitchFamily="34" charset="-120"/>
              </a:rPr>
              <a:t>People and soil</a:t>
            </a:r>
            <a:endParaRPr lang="en-US" sz="1900" dirty="0"/>
          </a:p>
        </p:txBody>
      </p:sp>
      <p:sp>
        <p:nvSpPr>
          <p:cNvPr id="15" name="Text 12"/>
          <p:cNvSpPr txBox="1"/>
          <p:nvPr/>
        </p:nvSpPr>
        <p:spPr>
          <a:xfrm>
            <a:off x="777240" y="3886200"/>
            <a:ext cx="3063240" cy="777240"/>
          </a:xfrm>
          <a:prstGeom prst="rect">
            <a:avLst/>
          </a:prstGeom>
          <a:noFill/>
          <a:ln/>
        </p:spPr>
        <p:txBody>
          <a:bodyPr wrap="square" lIns="0" tIns="0" rIns="0" bIns="0" rtlCol="0" anchor="t"/>
          <a:lstStyle/>
          <a:p>
            <a:pPr indent="0" marL="0">
              <a:buNone/>
            </a:pPr>
            <a:r>
              <a:rPr lang="en-US" sz="1500" dirty="0">
                <a:solidFill>
                  <a:schemeClr val="tx1"/>
                </a:solidFill>
              </a:rPr>
              <a:t>Distance to road (GRIP4), soil clay (OpenLandMap)</a:t>
            </a:r>
            <a:endParaRPr lang="en-US" sz="1500" dirty="0"/>
          </a:p>
        </p:txBody>
      </p:sp>
      <p:sp>
        <p:nvSpPr>
          <p:cNvPr id="16" name="Card"/>
          <p:cNvSpPr/>
          <p:nvPr/>
        </p:nvSpPr>
        <p:spPr>
          <a:xfrm>
            <a:off x="4297680" y="3200400"/>
            <a:ext cx="3520440" cy="1645920"/>
          </a:xfrm>
          <a:prstGeom prst="roundRect">
            <a:avLst>
              <a:gd name="adj" fmla="val 4444"/>
            </a:avLst>
          </a:prstGeom>
          <a:solidFill>
            <a:schemeClr val="bg2"/>
          </a:solidFill>
          <a:ln/>
        </p:spPr>
      </p:sp>
      <p:sp>
        <p:nvSpPr>
          <p:cNvPr id="17" name="Text 14"/>
          <p:cNvSpPr txBox="1"/>
          <p:nvPr/>
        </p:nvSpPr>
        <p:spPr>
          <a:xfrm>
            <a:off x="4526280" y="3383280"/>
            <a:ext cx="3063240" cy="457200"/>
          </a:xfrm>
          <a:prstGeom prst="rect">
            <a:avLst/>
          </a:prstGeom>
          <a:noFill/>
          <a:ln/>
        </p:spPr>
        <p:txBody>
          <a:bodyPr wrap="square" lIns="0" tIns="0" rIns="0" bIns="0" rtlCol="0" anchor="ctr"/>
          <a:lstStyle/>
          <a:p>
            <a:pPr indent="0" marL="0">
              <a:buNone/>
            </a:pPr>
            <a:r>
              <a:rPr lang="en-US" sz="1900" b="1" dirty="0">
                <a:solidFill>
                  <a:schemeClr val="accent3"/>
                </a:solidFill>
                <a:latin typeface="Cambria" pitchFamily="34" charset="0"/>
                <a:ea typeface="Cambria" pitchFamily="34" charset="-122"/>
                <a:cs typeface="Cambria" pitchFamily="34" charset="-120"/>
              </a:rPr>
              <a:t>Rain (CHIRPS)</a:t>
            </a:r>
            <a:endParaRPr lang="en-US" sz="1900" dirty="0"/>
          </a:p>
        </p:txBody>
      </p:sp>
      <p:sp>
        <p:nvSpPr>
          <p:cNvPr id="18" name="Text 15"/>
          <p:cNvSpPr txBox="1"/>
          <p:nvPr/>
        </p:nvSpPr>
        <p:spPr>
          <a:xfrm>
            <a:off x="4526280" y="3886200"/>
            <a:ext cx="3063240" cy="777240"/>
          </a:xfrm>
          <a:prstGeom prst="rect">
            <a:avLst/>
          </a:prstGeom>
          <a:noFill/>
          <a:ln/>
        </p:spPr>
        <p:txBody>
          <a:bodyPr wrap="square" lIns="0" tIns="0" rIns="0" bIns="0" rtlCol="0" anchor="t"/>
          <a:lstStyle/>
          <a:p>
            <a:pPr indent="0" marL="0">
              <a:buNone/>
            </a:pPr>
            <a:r>
              <a:rPr lang="en-US" sz="1500" dirty="0">
                <a:solidFill>
                  <a:schemeClr val="tx1"/>
                </a:solidFill>
              </a:rPr>
              <a:t>Mean annual rainfall, 2009-2025 only</a:t>
            </a:r>
            <a:endParaRPr lang="en-US" sz="1500" dirty="0"/>
          </a:p>
        </p:txBody>
      </p:sp>
      <p:sp>
        <p:nvSpPr>
          <p:cNvPr id="19" name="Card"/>
          <p:cNvSpPr/>
          <p:nvPr/>
        </p:nvSpPr>
        <p:spPr>
          <a:xfrm>
            <a:off x="8046720" y="3200400"/>
            <a:ext cx="3520440" cy="1645920"/>
          </a:xfrm>
          <a:prstGeom prst="roundRect">
            <a:avLst>
              <a:gd name="adj" fmla="val 4444"/>
            </a:avLst>
          </a:prstGeom>
          <a:solidFill>
            <a:schemeClr val="bg2"/>
          </a:solidFill>
          <a:ln/>
        </p:spPr>
      </p:sp>
      <p:sp>
        <p:nvSpPr>
          <p:cNvPr id="20" name="Text 17"/>
          <p:cNvSpPr txBox="1"/>
          <p:nvPr/>
        </p:nvSpPr>
        <p:spPr>
          <a:xfrm>
            <a:off x="8275320" y="3383280"/>
            <a:ext cx="306324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Two data fixes</a:t>
            </a:r>
            <a:endParaRPr lang="en-US" sz="1900" dirty="0"/>
          </a:p>
        </p:txBody>
      </p:sp>
      <p:sp>
        <p:nvSpPr>
          <p:cNvPr id="21" name="Text 18"/>
          <p:cNvSpPr txBox="1"/>
          <p:nvPr/>
        </p:nvSpPr>
        <p:spPr>
          <a:xfrm>
            <a:off x="8275320" y="3886200"/>
            <a:ext cx="3063240" cy="777240"/>
          </a:xfrm>
          <a:prstGeom prst="rect">
            <a:avLst/>
          </a:prstGeom>
          <a:noFill/>
          <a:ln/>
        </p:spPr>
        <p:txBody>
          <a:bodyPr wrap="square" lIns="0" tIns="0" rIns="0" bIns="0" rtlCol="0" anchor="t"/>
          <a:lstStyle/>
          <a:p>
            <a:pPr indent="0" marL="0">
              <a:buNone/>
            </a:pPr>
            <a:r>
              <a:rPr lang="en-US" sz="1500" dirty="0">
                <a:solidFill>
                  <a:schemeClr val="tx1"/>
                </a:solidFill>
              </a:rPr>
              <a:t>Aspect → cos and sin (circular)</a:t>
            </a:r>
            <a:endParaRPr lang="en-US" sz="1500" dirty="0"/>
          </a:p>
          <a:p>
            <a:pPr indent="0" marL="0">
              <a:buNone/>
            </a:pPr>
            <a:r>
              <a:rPr lang="en-US" sz="1500" dirty="0">
                <a:solidFill>
                  <a:schemeClr val="tx1"/>
                </a:solidFill>
              </a:rPr>
              <a:t>CHIRPS before 2009 dropped (466 vs 1,862 mm)</a:t>
            </a:r>
            <a:endParaRPr lang="en-US" sz="1500" dirty="0"/>
          </a:p>
        </p:txBody>
      </p:sp>
      <p:sp>
        <p:nvSpPr>
          <p:cNvPr id="22" name="Text 19"/>
          <p:cNvSpPr txBox="1"/>
          <p:nvPr/>
        </p:nvSpPr>
        <p:spPr>
          <a:xfrm>
            <a:off x="548640" y="5120640"/>
            <a:ext cx="11064240" cy="731520"/>
          </a:xfrm>
          <a:prstGeom prst="rect">
            <a:avLst/>
          </a:prstGeom>
          <a:noFill/>
          <a:ln/>
        </p:spPr>
        <p:txBody>
          <a:bodyPr wrap="square" lIns="0" tIns="0" rIns="0" bIns="0" rtlCol="0" anchor="ctr"/>
          <a:lstStyle/>
          <a:p>
            <a:pPr indent="0" marL="0">
              <a:buNone/>
            </a:pPr>
            <a:r>
              <a:rPr lang="en-US" sz="1600" b="1" dirty="0">
                <a:solidFill>
                  <a:schemeClr val="accent1"/>
                </a:solidFill>
              </a:rPr>
              <a:t>Each point reads factors from imagery taken BEFORE its landslide season, so the model cannot just see fresh scars.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The pipeline: one notebook, seventeen cells</a:t>
            </a:r>
            <a:endParaRPr lang="en-US" sz="3200" dirty="0"/>
          </a:p>
        </p:txBody>
      </p:sp>
      <p:sp>
        <p:nvSpPr>
          <p:cNvPr id="4" name="Step dot"/>
          <p:cNvSpPr/>
          <p:nvPr/>
        </p:nvSpPr>
        <p:spPr>
          <a:xfrm>
            <a:off x="548640" y="1463040"/>
            <a:ext cx="640080" cy="640080"/>
          </a:xfrm>
          <a:prstGeom prst="ellipse">
            <a:avLst/>
          </a:prstGeom>
          <a:solidFill>
            <a:schemeClr val="accent2"/>
          </a:solidFill>
          <a:ln/>
        </p:spPr>
      </p:sp>
      <p:sp>
        <p:nvSpPr>
          <p:cNvPr id="5" name="Text 2"/>
          <p:cNvSpPr txBox="1"/>
          <p:nvPr/>
        </p:nvSpPr>
        <p:spPr>
          <a:xfrm>
            <a:off x="54864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ext 3"/>
          <p:cNvSpPr txBox="1"/>
          <p:nvPr/>
        </p:nvSpPr>
        <p:spPr>
          <a:xfrm>
            <a:off x="1325880" y="150876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Composites</a:t>
            </a:r>
            <a:endParaRPr lang="en-US" sz="1900" dirty="0"/>
          </a:p>
        </p:txBody>
      </p:sp>
      <p:sp>
        <p:nvSpPr>
          <p:cNvPr id="7" name="Text 4"/>
          <p:cNvSpPr txBox="1"/>
          <p:nvPr/>
        </p:nvSpPr>
        <p:spPr>
          <a:xfrm>
            <a:off x="548640" y="2286000"/>
            <a:ext cx="2560320" cy="1005840"/>
          </a:xfrm>
          <a:prstGeom prst="rect">
            <a:avLst/>
          </a:prstGeom>
          <a:noFill/>
          <a:ln/>
        </p:spPr>
        <p:txBody>
          <a:bodyPr wrap="square" lIns="0" tIns="0" rIns="0" bIns="0" rtlCol="0" anchor="t"/>
          <a:lstStyle/>
          <a:p>
            <a:pPr indent="0" marL="0">
              <a:buNone/>
            </a:pPr>
            <a:r>
              <a:rPr lang="en-US" sz="1500" dirty="0">
                <a:solidFill>
                  <a:schemeClr val="tx1"/>
                </a:solidFill>
              </a:rPr>
              <a:t>Cloud-masked medians, 3 periods (Cells 3-5)</a:t>
            </a:r>
            <a:endParaRPr lang="en-US" sz="1500" dirty="0"/>
          </a:p>
        </p:txBody>
      </p:sp>
      <p:sp>
        <p:nvSpPr>
          <p:cNvPr id="8" name="Step dot"/>
          <p:cNvSpPr/>
          <p:nvPr/>
        </p:nvSpPr>
        <p:spPr>
          <a:xfrm>
            <a:off x="3383280" y="1463040"/>
            <a:ext cx="640080" cy="640080"/>
          </a:xfrm>
          <a:prstGeom prst="ellipse">
            <a:avLst/>
          </a:prstGeom>
          <a:solidFill>
            <a:schemeClr val="accent2"/>
          </a:solidFill>
          <a:ln/>
        </p:spPr>
      </p:sp>
      <p:sp>
        <p:nvSpPr>
          <p:cNvPr id="9" name="Text 6"/>
          <p:cNvSpPr txBox="1"/>
          <p:nvPr/>
        </p:nvSpPr>
        <p:spPr>
          <a:xfrm>
            <a:off x="338328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0" name="Text 7"/>
          <p:cNvSpPr txBox="1"/>
          <p:nvPr/>
        </p:nvSpPr>
        <p:spPr>
          <a:xfrm>
            <a:off x="4160520" y="150876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Factor stack</a:t>
            </a:r>
            <a:endParaRPr lang="en-US" sz="1900" dirty="0"/>
          </a:p>
        </p:txBody>
      </p:sp>
      <p:sp>
        <p:nvSpPr>
          <p:cNvPr id="11" name="Text 8"/>
          <p:cNvSpPr txBox="1"/>
          <p:nvPr/>
        </p:nvSpPr>
        <p:spPr>
          <a:xfrm>
            <a:off x="3383280" y="2286000"/>
            <a:ext cx="2560320" cy="1005840"/>
          </a:xfrm>
          <a:prstGeom prst="rect">
            <a:avLst/>
          </a:prstGeom>
          <a:noFill/>
          <a:ln/>
        </p:spPr>
        <p:txBody>
          <a:bodyPr wrap="square" lIns="0" tIns="0" rIns="0" bIns="0" rtlCol="0" anchor="t"/>
          <a:lstStyle/>
          <a:p>
            <a:pPr indent="0" marL="0">
              <a:buNone/>
            </a:pPr>
            <a:r>
              <a:rPr lang="en-US" sz="1500" dirty="0">
                <a:solidFill>
                  <a:schemeClr val="tx1"/>
                </a:solidFill>
              </a:rPr>
              <a:t>13 layers per period (Cells 6-8)</a:t>
            </a:r>
            <a:endParaRPr lang="en-US" sz="1500" dirty="0"/>
          </a:p>
        </p:txBody>
      </p:sp>
      <p:sp>
        <p:nvSpPr>
          <p:cNvPr id="12" name="Step dot"/>
          <p:cNvSpPr/>
          <p:nvPr/>
        </p:nvSpPr>
        <p:spPr>
          <a:xfrm>
            <a:off x="6217920" y="1463040"/>
            <a:ext cx="640080" cy="640080"/>
          </a:xfrm>
          <a:prstGeom prst="ellipse">
            <a:avLst/>
          </a:prstGeom>
          <a:solidFill>
            <a:schemeClr val="accent2"/>
          </a:solidFill>
          <a:ln/>
        </p:spPr>
      </p:sp>
      <p:sp>
        <p:nvSpPr>
          <p:cNvPr id="13" name="Text 10"/>
          <p:cNvSpPr txBox="1"/>
          <p:nvPr/>
        </p:nvSpPr>
        <p:spPr>
          <a:xfrm>
            <a:off x="621792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4" name="Text 11"/>
          <p:cNvSpPr txBox="1"/>
          <p:nvPr/>
        </p:nvSpPr>
        <p:spPr>
          <a:xfrm>
            <a:off x="6995160" y="150876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Points</a:t>
            </a:r>
            <a:endParaRPr lang="en-US" sz="1900" dirty="0"/>
          </a:p>
        </p:txBody>
      </p:sp>
      <p:sp>
        <p:nvSpPr>
          <p:cNvPr id="15" name="Text 12"/>
          <p:cNvSpPr txBox="1"/>
          <p:nvPr/>
        </p:nvSpPr>
        <p:spPr>
          <a:xfrm>
            <a:off x="6217920" y="2286000"/>
            <a:ext cx="2560320" cy="1005840"/>
          </a:xfrm>
          <a:prstGeom prst="rect">
            <a:avLst/>
          </a:prstGeom>
          <a:noFill/>
          <a:ln/>
        </p:spPr>
        <p:txBody>
          <a:bodyPr wrap="square" lIns="0" tIns="0" rIns="0" bIns="0" rtlCol="0" anchor="t"/>
          <a:lstStyle/>
          <a:p>
            <a:pPr indent="0" marL="0">
              <a:buNone/>
            </a:pPr>
            <a:r>
              <a:rPr lang="en-US" sz="1500" dirty="0">
                <a:solidFill>
                  <a:schemeClr val="tx1"/>
                </a:solidFill>
              </a:rPr>
              <a:t>4,353 slides + 4,353 stable (Cell 10)</a:t>
            </a:r>
            <a:endParaRPr lang="en-US" sz="1500" dirty="0"/>
          </a:p>
        </p:txBody>
      </p:sp>
      <p:sp>
        <p:nvSpPr>
          <p:cNvPr id="16" name="Step dot"/>
          <p:cNvSpPr/>
          <p:nvPr/>
        </p:nvSpPr>
        <p:spPr>
          <a:xfrm>
            <a:off x="9052560" y="1463040"/>
            <a:ext cx="640080" cy="640080"/>
          </a:xfrm>
          <a:prstGeom prst="ellipse">
            <a:avLst/>
          </a:prstGeom>
          <a:solidFill>
            <a:schemeClr val="accent2"/>
          </a:solidFill>
          <a:ln/>
        </p:spPr>
      </p:sp>
      <p:sp>
        <p:nvSpPr>
          <p:cNvPr id="17" name="Text 14"/>
          <p:cNvSpPr txBox="1"/>
          <p:nvPr/>
        </p:nvSpPr>
        <p:spPr>
          <a:xfrm>
            <a:off x="9052560" y="14630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18" name="Text 15"/>
          <p:cNvSpPr txBox="1"/>
          <p:nvPr/>
        </p:nvSpPr>
        <p:spPr>
          <a:xfrm>
            <a:off x="9829800" y="150876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Sample</a:t>
            </a:r>
            <a:endParaRPr lang="en-US" sz="1900" dirty="0"/>
          </a:p>
        </p:txBody>
      </p:sp>
      <p:sp>
        <p:nvSpPr>
          <p:cNvPr id="19" name="Text 16"/>
          <p:cNvSpPr txBox="1"/>
          <p:nvPr/>
        </p:nvSpPr>
        <p:spPr>
          <a:xfrm>
            <a:off x="9052560" y="2286000"/>
            <a:ext cx="2560320" cy="1005840"/>
          </a:xfrm>
          <a:prstGeom prst="rect">
            <a:avLst/>
          </a:prstGeom>
          <a:noFill/>
          <a:ln/>
        </p:spPr>
        <p:txBody>
          <a:bodyPr wrap="square" lIns="0" tIns="0" rIns="0" bIns="0" rtlCol="0" anchor="t"/>
          <a:lstStyle/>
          <a:p>
            <a:pPr indent="0" marL="0">
              <a:buNone/>
            </a:pPr>
            <a:r>
              <a:rPr lang="en-US" sz="1500" dirty="0">
                <a:solidFill>
                  <a:schemeClr val="tx1"/>
                </a:solidFill>
              </a:rPr>
              <a:t>Pre-event values, 8,696 points (Cell 11)</a:t>
            </a:r>
            <a:endParaRPr lang="en-US" sz="1500" dirty="0"/>
          </a:p>
        </p:txBody>
      </p:sp>
      <p:sp>
        <p:nvSpPr>
          <p:cNvPr id="20" name="Step dot"/>
          <p:cNvSpPr/>
          <p:nvPr/>
        </p:nvSpPr>
        <p:spPr>
          <a:xfrm>
            <a:off x="548640" y="3840480"/>
            <a:ext cx="640080" cy="640080"/>
          </a:xfrm>
          <a:prstGeom prst="ellipse">
            <a:avLst/>
          </a:prstGeom>
          <a:solidFill>
            <a:schemeClr val="accent1"/>
          </a:solidFill>
          <a:ln/>
        </p:spPr>
      </p:sp>
      <p:sp>
        <p:nvSpPr>
          <p:cNvPr id="21" name="Text 18"/>
          <p:cNvSpPr txBox="1"/>
          <p:nvPr/>
        </p:nvSpPr>
        <p:spPr>
          <a:xfrm>
            <a:off x="548640" y="3840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2" name="Text 19"/>
          <p:cNvSpPr txBox="1"/>
          <p:nvPr/>
        </p:nvSpPr>
        <p:spPr>
          <a:xfrm>
            <a:off x="1325880" y="388620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Compare</a:t>
            </a:r>
            <a:endParaRPr lang="en-US" sz="1900" dirty="0"/>
          </a:p>
        </p:txBody>
      </p:sp>
      <p:sp>
        <p:nvSpPr>
          <p:cNvPr id="23" name="Text 20"/>
          <p:cNvSpPr txBox="1"/>
          <p:nvPr/>
        </p:nvSpPr>
        <p:spPr>
          <a:xfrm>
            <a:off x="548640" y="4663440"/>
            <a:ext cx="2560320" cy="1005840"/>
          </a:xfrm>
          <a:prstGeom prst="rect">
            <a:avLst/>
          </a:prstGeom>
          <a:noFill/>
          <a:ln/>
        </p:spPr>
        <p:txBody>
          <a:bodyPr wrap="square" lIns="0" tIns="0" rIns="0" bIns="0" rtlCol="0" anchor="t"/>
          <a:lstStyle/>
          <a:p>
            <a:pPr indent="0" marL="0">
              <a:buNone/>
            </a:pPr>
            <a:r>
              <a:rPr lang="en-US" sz="1500" dirty="0">
                <a:solidFill>
                  <a:schemeClr val="tx1"/>
                </a:solidFill>
              </a:rPr>
              <a:t>5 models x 3 tests (Cell 12)</a:t>
            </a:r>
            <a:endParaRPr lang="en-US" sz="1500" dirty="0"/>
          </a:p>
        </p:txBody>
      </p:sp>
      <p:sp>
        <p:nvSpPr>
          <p:cNvPr id="24" name="Step dot"/>
          <p:cNvSpPr/>
          <p:nvPr/>
        </p:nvSpPr>
        <p:spPr>
          <a:xfrm>
            <a:off x="3383280" y="3840480"/>
            <a:ext cx="640080" cy="640080"/>
          </a:xfrm>
          <a:prstGeom prst="ellipse">
            <a:avLst/>
          </a:prstGeom>
          <a:solidFill>
            <a:schemeClr val="accent1"/>
          </a:solidFill>
          <a:ln/>
        </p:spPr>
      </p:sp>
      <p:sp>
        <p:nvSpPr>
          <p:cNvPr id="25" name="Text 22"/>
          <p:cNvSpPr txBox="1"/>
          <p:nvPr/>
        </p:nvSpPr>
        <p:spPr>
          <a:xfrm>
            <a:off x="3383280" y="3840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26" name="Text 23"/>
          <p:cNvSpPr txBox="1"/>
          <p:nvPr/>
        </p:nvSpPr>
        <p:spPr>
          <a:xfrm>
            <a:off x="4160520" y="388620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Tune</a:t>
            </a:r>
            <a:endParaRPr lang="en-US" sz="1900" dirty="0"/>
          </a:p>
        </p:txBody>
      </p:sp>
      <p:sp>
        <p:nvSpPr>
          <p:cNvPr id="27" name="Text 24"/>
          <p:cNvSpPr txBox="1"/>
          <p:nvPr/>
        </p:nvSpPr>
        <p:spPr>
          <a:xfrm>
            <a:off x="3383280" y="4663440"/>
            <a:ext cx="2560320" cy="1005840"/>
          </a:xfrm>
          <a:prstGeom prst="rect">
            <a:avLst/>
          </a:prstGeom>
          <a:noFill/>
          <a:ln/>
        </p:spPr>
        <p:txBody>
          <a:bodyPr wrap="square" lIns="0" tIns="0" rIns="0" bIns="0" rtlCol="0" anchor="t"/>
          <a:lstStyle/>
          <a:p>
            <a:pPr indent="0" marL="0">
              <a:buNone/>
            </a:pPr>
            <a:r>
              <a:rPr lang="en-US" sz="1500" dirty="0">
                <a:solidFill>
                  <a:schemeClr val="tx1"/>
                </a:solidFill>
              </a:rPr>
              <a:t>Random search on spatial CV (Cell 13)</a:t>
            </a:r>
            <a:endParaRPr lang="en-US" sz="1500" dirty="0"/>
          </a:p>
        </p:txBody>
      </p:sp>
      <p:sp>
        <p:nvSpPr>
          <p:cNvPr id="28" name="Step dot"/>
          <p:cNvSpPr/>
          <p:nvPr/>
        </p:nvSpPr>
        <p:spPr>
          <a:xfrm>
            <a:off x="6217920" y="3840480"/>
            <a:ext cx="640080" cy="640080"/>
          </a:xfrm>
          <a:prstGeom prst="ellipse">
            <a:avLst/>
          </a:prstGeom>
          <a:solidFill>
            <a:schemeClr val="tx2"/>
          </a:solidFill>
          <a:ln/>
        </p:spPr>
      </p:sp>
      <p:sp>
        <p:nvSpPr>
          <p:cNvPr id="29" name="Text 26"/>
          <p:cNvSpPr txBox="1"/>
          <p:nvPr/>
        </p:nvSpPr>
        <p:spPr>
          <a:xfrm>
            <a:off x="6217920" y="3840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7</a:t>
            </a:r>
            <a:endParaRPr lang="en-US" sz="2000" dirty="0"/>
          </a:p>
        </p:txBody>
      </p:sp>
      <p:sp>
        <p:nvSpPr>
          <p:cNvPr id="30" name="Text 27"/>
          <p:cNvSpPr txBox="1"/>
          <p:nvPr/>
        </p:nvSpPr>
        <p:spPr>
          <a:xfrm>
            <a:off x="6995160" y="388620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Map</a:t>
            </a:r>
            <a:endParaRPr lang="en-US" sz="1900" dirty="0"/>
          </a:p>
        </p:txBody>
      </p:sp>
      <p:sp>
        <p:nvSpPr>
          <p:cNvPr id="31" name="Text 28"/>
          <p:cNvSpPr txBox="1"/>
          <p:nvPr/>
        </p:nvSpPr>
        <p:spPr>
          <a:xfrm>
            <a:off x="6217920" y="4663440"/>
            <a:ext cx="2560320" cy="1005840"/>
          </a:xfrm>
          <a:prstGeom prst="rect">
            <a:avLst/>
          </a:prstGeom>
          <a:noFill/>
          <a:ln/>
        </p:spPr>
        <p:txBody>
          <a:bodyPr wrap="square" lIns="0" tIns="0" rIns="0" bIns="0" rtlCol="0" anchor="t"/>
          <a:lstStyle/>
          <a:p>
            <a:pPr indent="0" marL="0">
              <a:buNone/>
            </a:pPr>
            <a:r>
              <a:rPr lang="en-US" sz="1500" dirty="0">
                <a:solidFill>
                  <a:schemeClr val="tx1"/>
                </a:solidFill>
              </a:rPr>
              <a:t>Best model on 2.62 M pixels (Cell 14)</a:t>
            </a:r>
            <a:endParaRPr lang="en-US" sz="1500" dirty="0"/>
          </a:p>
        </p:txBody>
      </p:sp>
      <p:sp>
        <p:nvSpPr>
          <p:cNvPr id="32" name="Step dot"/>
          <p:cNvSpPr/>
          <p:nvPr/>
        </p:nvSpPr>
        <p:spPr>
          <a:xfrm>
            <a:off x="9052560" y="3840480"/>
            <a:ext cx="640080" cy="640080"/>
          </a:xfrm>
          <a:prstGeom prst="ellipse">
            <a:avLst/>
          </a:prstGeom>
          <a:solidFill>
            <a:schemeClr val="tx2"/>
          </a:solidFill>
          <a:ln/>
        </p:spPr>
      </p:sp>
      <p:sp>
        <p:nvSpPr>
          <p:cNvPr id="33" name="Text 30"/>
          <p:cNvSpPr txBox="1"/>
          <p:nvPr/>
        </p:nvSpPr>
        <p:spPr>
          <a:xfrm>
            <a:off x="9052560" y="384048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8</a:t>
            </a:r>
            <a:endParaRPr lang="en-US" sz="2000" dirty="0"/>
          </a:p>
        </p:txBody>
      </p:sp>
      <p:sp>
        <p:nvSpPr>
          <p:cNvPr id="34" name="Text 31"/>
          <p:cNvSpPr txBox="1"/>
          <p:nvPr/>
        </p:nvSpPr>
        <p:spPr>
          <a:xfrm>
            <a:off x="9829800" y="3886200"/>
            <a:ext cx="1828800" cy="54864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Risk</a:t>
            </a:r>
            <a:endParaRPr lang="en-US" sz="1900" dirty="0"/>
          </a:p>
        </p:txBody>
      </p:sp>
      <p:sp>
        <p:nvSpPr>
          <p:cNvPr id="35" name="Text 32"/>
          <p:cNvSpPr txBox="1"/>
          <p:nvPr/>
        </p:nvSpPr>
        <p:spPr>
          <a:xfrm>
            <a:off x="9052560" y="4663440"/>
            <a:ext cx="2560320" cy="1005840"/>
          </a:xfrm>
          <a:prstGeom prst="rect">
            <a:avLst/>
          </a:prstGeom>
          <a:noFill/>
          <a:ln/>
        </p:spPr>
        <p:txBody>
          <a:bodyPr wrap="square" lIns="0" tIns="0" rIns="0" bIns="0" rtlCol="0" anchor="t"/>
          <a:lstStyle/>
          <a:p>
            <a:pPr indent="0" marL="0">
              <a:buNone/>
            </a:pPr>
            <a:r>
              <a:rPr lang="en-US" sz="1500" dirty="0">
                <a:solidFill>
                  <a:schemeClr val="tx1"/>
                </a:solidFill>
              </a:rPr>
              <a:t>Roads, buildings, people per zone (Cell 17)</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Three ways to test a model, and only one is honest for maps</a:t>
            </a:r>
            <a:endParaRPr lang="en-US" sz="3200" dirty="0"/>
          </a:p>
        </p:txBody>
      </p:sp>
      <p:sp>
        <p:nvSpPr>
          <p:cNvPr id="4" name="Card"/>
          <p:cNvSpPr/>
          <p:nvPr/>
        </p:nvSpPr>
        <p:spPr>
          <a:xfrm>
            <a:off x="548640" y="1371600"/>
            <a:ext cx="3520440" cy="3108960"/>
          </a:xfrm>
          <a:prstGeom prst="roundRect">
            <a:avLst>
              <a:gd name="adj" fmla="val 2353"/>
            </a:avLst>
          </a:prstGeom>
          <a:solidFill>
            <a:schemeClr val="bg2"/>
          </a:solidFill>
          <a:ln/>
        </p:spPr>
      </p:sp>
      <p:sp>
        <p:nvSpPr>
          <p:cNvPr id="5" name="Text 2"/>
          <p:cNvSpPr txBox="1"/>
          <p:nvPr/>
        </p:nvSpPr>
        <p:spPr>
          <a:xfrm>
            <a:off x="777240" y="1554480"/>
            <a:ext cx="3063240" cy="457200"/>
          </a:xfrm>
          <a:prstGeom prst="rect">
            <a:avLst/>
          </a:prstGeom>
          <a:noFill/>
          <a:ln/>
        </p:spPr>
        <p:txBody>
          <a:bodyPr wrap="square" lIns="0" tIns="0" rIns="0" bIns="0" rtlCol="0" anchor="ctr"/>
          <a:lstStyle/>
          <a:p>
            <a:pPr indent="0" marL="0">
              <a:buNone/>
            </a:pPr>
            <a:r>
              <a:rPr lang="en-US" sz="1900" b="1" dirty="0">
                <a:solidFill>
                  <a:schemeClr val="accent4"/>
                </a:solidFill>
                <a:latin typeface="Cambria" pitchFamily="34" charset="0"/>
                <a:ea typeface="Cambria" pitchFamily="34" charset="-122"/>
                <a:cs typeface="Cambria" pitchFamily="34" charset="-120"/>
              </a:rPr>
              <a:t>A · Random 70/30</a:t>
            </a:r>
            <a:endParaRPr lang="en-US" sz="1900" dirty="0"/>
          </a:p>
        </p:txBody>
      </p:sp>
      <p:sp>
        <p:nvSpPr>
          <p:cNvPr id="6" name="Text 3"/>
          <p:cNvSpPr txBox="1"/>
          <p:nvPr/>
        </p:nvSpPr>
        <p:spPr>
          <a:xfrm>
            <a:off x="777240" y="2057400"/>
            <a:ext cx="3063240" cy="2240280"/>
          </a:xfrm>
          <a:prstGeom prst="rect">
            <a:avLst/>
          </a:prstGeom>
          <a:noFill/>
          <a:ln/>
        </p:spPr>
        <p:txBody>
          <a:bodyPr wrap="square" lIns="0" tIns="0" rIns="0" bIns="0" rtlCol="0" anchor="t"/>
          <a:lstStyle/>
          <a:p>
            <a:pPr indent="0" marL="0">
              <a:buNone/>
            </a:pPr>
            <a:r>
              <a:rPr lang="en-US" sz="1500" dirty="0">
                <a:solidFill>
                  <a:schemeClr val="tx1"/>
                </a:solidFill>
              </a:rPr>
              <a:t>The textbook split.</a:t>
            </a:r>
            <a:endParaRPr lang="en-US" sz="1500" dirty="0"/>
          </a:p>
          <a:p>
            <a:pPr indent="0" marL="0">
              <a:buNone/>
            </a:pPr>
            <a:endParaRPr lang="en-US" sz="1500" dirty="0"/>
          </a:p>
          <a:p>
            <a:pPr indent="0" marL="0">
              <a:buNone/>
            </a:pPr>
            <a:r>
              <a:rPr lang="en-US" sz="1500" dirty="0">
                <a:solidFill>
                  <a:schemeClr val="tx1"/>
                </a:solidFill>
              </a:rPr>
              <a:t>Nearby points are near-twins, so a test point usually has a twin in training. Flatters models that memorise places.</a:t>
            </a:r>
            <a:endParaRPr lang="en-US" sz="1500" dirty="0"/>
          </a:p>
        </p:txBody>
      </p:sp>
      <p:sp>
        <p:nvSpPr>
          <p:cNvPr id="7" name="Card"/>
          <p:cNvSpPr/>
          <p:nvPr/>
        </p:nvSpPr>
        <p:spPr>
          <a:xfrm>
            <a:off x="4343400" y="1371600"/>
            <a:ext cx="3520440" cy="3108960"/>
          </a:xfrm>
          <a:prstGeom prst="roundRect">
            <a:avLst>
              <a:gd name="adj" fmla="val 2353"/>
            </a:avLst>
          </a:prstGeom>
          <a:solidFill>
            <a:schemeClr val="bg2"/>
          </a:solidFill>
          <a:ln/>
        </p:spPr>
      </p:sp>
      <p:sp>
        <p:nvSpPr>
          <p:cNvPr id="8" name="Text 5"/>
          <p:cNvSpPr txBox="1"/>
          <p:nvPr/>
        </p:nvSpPr>
        <p:spPr>
          <a:xfrm>
            <a:off x="4572000" y="1554480"/>
            <a:ext cx="3063240" cy="457200"/>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B · Spatial 5 km blocks</a:t>
            </a:r>
            <a:endParaRPr lang="en-US" sz="1900" dirty="0"/>
          </a:p>
        </p:txBody>
      </p:sp>
      <p:sp>
        <p:nvSpPr>
          <p:cNvPr id="9" name="Text 6"/>
          <p:cNvSpPr txBox="1"/>
          <p:nvPr/>
        </p:nvSpPr>
        <p:spPr>
          <a:xfrm>
            <a:off x="4572000" y="2057400"/>
            <a:ext cx="3063240" cy="2240280"/>
          </a:xfrm>
          <a:prstGeom prst="rect">
            <a:avLst/>
          </a:prstGeom>
          <a:noFill/>
          <a:ln/>
        </p:spPr>
        <p:txBody>
          <a:bodyPr wrap="square" lIns="0" tIns="0" rIns="0" bIns="0" rtlCol="0" anchor="t"/>
          <a:lstStyle/>
          <a:p>
            <a:pPr indent="0" marL="0">
              <a:buNone/>
            </a:pPr>
            <a:r>
              <a:rPr lang="en-US" sz="1500" dirty="0">
                <a:solidFill>
                  <a:schemeClr val="tx1"/>
                </a:solidFill>
              </a:rPr>
              <a:t>Whole blocks held out, 5 folds.</a:t>
            </a:r>
            <a:endParaRPr lang="en-US" sz="1500" dirty="0"/>
          </a:p>
          <a:p>
            <a:pPr indent="0" marL="0">
              <a:buNone/>
            </a:pPr>
            <a:endParaRPr lang="en-US" sz="1500" dirty="0"/>
          </a:p>
          <a:p>
            <a:pPr indent="0" marL="0">
              <a:buNone/>
            </a:pPr>
            <a:r>
              <a:rPr lang="en-US" sz="1500" dirty="0">
                <a:solidFill>
                  <a:schemeClr val="tx1"/>
                </a:solidFill>
              </a:rPr>
              <a:t>Mimics the real use: predicting ground with no recorded landslides. This is the main result.</a:t>
            </a:r>
            <a:endParaRPr lang="en-US" sz="1500" dirty="0"/>
          </a:p>
        </p:txBody>
      </p:sp>
      <p:sp>
        <p:nvSpPr>
          <p:cNvPr id="10" name="Card"/>
          <p:cNvSpPr/>
          <p:nvPr/>
        </p:nvSpPr>
        <p:spPr>
          <a:xfrm>
            <a:off x="8138160" y="1371600"/>
            <a:ext cx="3520440" cy="3108960"/>
          </a:xfrm>
          <a:prstGeom prst="roundRect">
            <a:avLst>
              <a:gd name="adj" fmla="val 2353"/>
            </a:avLst>
          </a:prstGeom>
          <a:solidFill>
            <a:schemeClr val="bg2"/>
          </a:solidFill>
          <a:ln/>
        </p:spPr>
      </p:sp>
      <p:sp>
        <p:nvSpPr>
          <p:cNvPr id="11" name="Text 8"/>
          <p:cNvSpPr txBox="1"/>
          <p:nvPr/>
        </p:nvSpPr>
        <p:spPr>
          <a:xfrm>
            <a:off x="8366760" y="1554480"/>
            <a:ext cx="306324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C · Temporal</a:t>
            </a:r>
            <a:endParaRPr lang="en-US" sz="1900" dirty="0"/>
          </a:p>
        </p:txBody>
      </p:sp>
      <p:sp>
        <p:nvSpPr>
          <p:cNvPr id="12" name="Text 9"/>
          <p:cNvSpPr txBox="1"/>
          <p:nvPr/>
        </p:nvSpPr>
        <p:spPr>
          <a:xfrm>
            <a:off x="8366760" y="2057400"/>
            <a:ext cx="3063240" cy="2240280"/>
          </a:xfrm>
          <a:prstGeom prst="rect">
            <a:avLst/>
          </a:prstGeom>
          <a:noFill/>
          <a:ln/>
        </p:spPr>
        <p:txBody>
          <a:bodyPr wrap="square" lIns="0" tIns="0" rIns="0" bIns="0" rtlCol="0" anchor="t"/>
          <a:lstStyle/>
          <a:p>
            <a:pPr indent="0" marL="0">
              <a:buNone/>
            </a:pPr>
            <a:r>
              <a:rPr lang="en-US" sz="1500" dirty="0">
                <a:solidFill>
                  <a:schemeClr val="tx1"/>
                </a:solidFill>
              </a:rPr>
              <a:t>Train on 2014 + 2017, test on 2023.</a:t>
            </a:r>
            <a:endParaRPr lang="en-US" sz="1500" dirty="0"/>
          </a:p>
          <a:p>
            <a:pPr indent="0" marL="0">
              <a:buNone/>
            </a:pPr>
            <a:endParaRPr lang="en-US" sz="1500" dirty="0"/>
          </a:p>
          <a:p>
            <a:pPr indent="0" marL="0">
              <a:buNone/>
            </a:pPr>
            <a:r>
              <a:rPr lang="en-US" sz="1500" dirty="0">
                <a:solidFill>
                  <a:schemeClr val="tx1"/>
                </a:solidFill>
              </a:rPr>
              <a:t>Can past seasons predict a much more extreme one?</a:t>
            </a:r>
            <a:endParaRPr lang="en-US" sz="1500" dirty="0"/>
          </a:p>
        </p:txBody>
      </p:sp>
      <p:sp>
        <p:nvSpPr>
          <p:cNvPr id="13" name="Text 10"/>
          <p:cNvSpPr txBox="1"/>
          <p:nvPr/>
        </p:nvSpPr>
        <p:spPr>
          <a:xfrm>
            <a:off x="548640" y="4846320"/>
            <a:ext cx="11064240" cy="457200"/>
          </a:xfrm>
          <a:prstGeom prst="rect">
            <a:avLst/>
          </a:prstGeom>
          <a:noFill/>
          <a:ln/>
        </p:spPr>
        <p:txBody>
          <a:bodyPr wrap="square" lIns="0" tIns="0" rIns="0" bIns="0" rtlCol="0" anchor="ctr"/>
          <a:lstStyle/>
          <a:p>
            <a:pPr indent="0" marL="0">
              <a:buNone/>
            </a:pPr>
            <a:r>
              <a:rPr lang="en-US" sz="1500" dirty="0">
                <a:solidFill>
                  <a:schemeClr val="tx1"/>
                </a:solidFill>
              </a:rPr>
              <a:t>Metrics: ROC-AUC (ranking: 0.5 = coin toss, 1 = perfect), overall accuracy, F1, Cohen's kappa</a:t>
            </a:r>
            <a:endParaRPr lang="en-US" sz="1500" dirty="0"/>
          </a:p>
        </p:txBody>
      </p:sp>
      <p:sp>
        <p:nvSpPr>
          <p:cNvPr id="14" name="Text 11"/>
          <p:cNvSpPr txBox="1"/>
          <p:nvPr/>
        </p:nvSpPr>
        <p:spPr>
          <a:xfrm>
            <a:off x="548640" y="5303520"/>
            <a:ext cx="11064240" cy="457200"/>
          </a:xfrm>
          <a:prstGeom prst="rect">
            <a:avLst/>
          </a:prstGeom>
          <a:noFill/>
          <a:ln/>
        </p:spPr>
        <p:txBody>
          <a:bodyPr wrap="square" lIns="0" tIns="0" rIns="0" bIns="0" rtlCol="0" anchor="ctr"/>
          <a:lstStyle/>
          <a:p>
            <a:pPr indent="0" marL="0">
              <a:buNone/>
            </a:pPr>
            <a:r>
              <a:rPr lang="en-US" sz="1500" dirty="0">
                <a:solidFill>
                  <a:schemeClr val="tx1"/>
                </a:solidFill>
              </a:rPr>
              <a:t>Models: kNN, SVM, ANN (MLP), Random Forest, XGBoost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Random splits crown XGBoost; new ground ranks it last</a:t>
            </a:r>
            <a:endParaRPr lang="en-US" sz="3200" dirty="0"/>
          </a:p>
        </p:txBody>
      </p:sp>
      <p:graphicFrame>
        <p:nvGraphicFramePr>
          <p:cNvPr id="4" name="Chart 0" descr=""/>
          <p:cNvGraphicFramePr/>
          <p:nvPr/>
        </p:nvGraphicFramePr>
        <p:xfrm>
          <a:off x="548640" y="128016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5" name="Stat card"/>
          <p:cNvSpPr/>
          <p:nvPr/>
        </p:nvSpPr>
        <p:spPr>
          <a:xfrm>
            <a:off x="8412480" y="1371600"/>
            <a:ext cx="3200400" cy="1325880"/>
          </a:xfrm>
          <a:prstGeom prst="roundRect">
            <a:avLst>
              <a:gd name="adj" fmla="val 5517"/>
            </a:avLst>
          </a:prstGeom>
          <a:solidFill>
            <a:schemeClr val="bg2"/>
          </a:solidFill>
          <a:ln/>
        </p:spPr>
      </p:sp>
      <p:sp>
        <p:nvSpPr>
          <p:cNvPr id="6" name="Text 2"/>
          <p:cNvSpPr txBox="1"/>
          <p:nvPr/>
        </p:nvSpPr>
        <p:spPr>
          <a:xfrm>
            <a:off x="8595360" y="1481328"/>
            <a:ext cx="28346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−0.116</a:t>
            </a:r>
            <a:endParaRPr lang="en-US" sz="3600" dirty="0"/>
          </a:p>
        </p:txBody>
      </p:sp>
      <p:sp>
        <p:nvSpPr>
          <p:cNvPr id="7" name="Text 3"/>
          <p:cNvSpPr txBox="1"/>
          <p:nvPr/>
        </p:nvSpPr>
        <p:spPr>
          <a:xfrm>
            <a:off x="8595360" y="2176272"/>
            <a:ext cx="2834640" cy="457200"/>
          </a:xfrm>
          <a:prstGeom prst="rect">
            <a:avLst/>
          </a:prstGeom>
          <a:noFill/>
          <a:ln/>
        </p:spPr>
        <p:txBody>
          <a:bodyPr wrap="square" lIns="0" tIns="0" rIns="0" bIns="0" rtlCol="0" anchor="t"/>
          <a:lstStyle/>
          <a:p>
            <a:pPr indent="0" marL="0">
              <a:buNone/>
            </a:pPr>
            <a:r>
              <a:rPr lang="en-US" sz="1300" dirty="0">
                <a:solidFill>
                  <a:schemeClr val="tx1"/>
                </a:solidFill>
              </a:rPr>
              <a:t>XGBoost AUC lost from random to spatial test, the largest drop</a:t>
            </a:r>
            <a:endParaRPr lang="en-US" sz="1300" dirty="0"/>
          </a:p>
        </p:txBody>
      </p:sp>
      <p:sp>
        <p:nvSpPr>
          <p:cNvPr id="8" name="Stat card"/>
          <p:cNvSpPr/>
          <p:nvPr/>
        </p:nvSpPr>
        <p:spPr>
          <a:xfrm>
            <a:off x="8412480" y="2880360"/>
            <a:ext cx="3200400" cy="1325880"/>
          </a:xfrm>
          <a:prstGeom prst="roundRect">
            <a:avLst>
              <a:gd name="adj" fmla="val 5517"/>
            </a:avLst>
          </a:prstGeom>
          <a:solidFill>
            <a:schemeClr val="bg2"/>
          </a:solidFill>
          <a:ln/>
        </p:spPr>
      </p:sp>
      <p:sp>
        <p:nvSpPr>
          <p:cNvPr id="9" name="Text 5"/>
          <p:cNvSpPr txBox="1"/>
          <p:nvPr/>
        </p:nvSpPr>
        <p:spPr>
          <a:xfrm>
            <a:off x="8595360" y="2990088"/>
            <a:ext cx="283464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0.901</a:t>
            </a:r>
            <a:endParaRPr lang="en-US" sz="3600" dirty="0"/>
          </a:p>
        </p:txBody>
      </p:sp>
      <p:sp>
        <p:nvSpPr>
          <p:cNvPr id="10" name="Text 6"/>
          <p:cNvSpPr txBox="1"/>
          <p:nvPr/>
        </p:nvSpPr>
        <p:spPr>
          <a:xfrm>
            <a:off x="8595360" y="3685032"/>
            <a:ext cx="2834640" cy="457200"/>
          </a:xfrm>
          <a:prstGeom prst="rect">
            <a:avLst/>
          </a:prstGeom>
          <a:noFill/>
          <a:ln/>
        </p:spPr>
        <p:txBody>
          <a:bodyPr wrap="square" lIns="0" tIns="0" rIns="0" bIns="0" rtlCol="0" anchor="t"/>
          <a:lstStyle/>
          <a:p>
            <a:pPr indent="0" marL="0">
              <a:buNone/>
            </a:pPr>
            <a:r>
              <a:rPr lang="en-US" sz="1300" dirty="0">
                <a:solidFill>
                  <a:schemeClr val="tx1"/>
                </a:solidFill>
              </a:rPr>
              <a:t>best spatial AUC before tuning (ANN)</a:t>
            </a:r>
            <a:endParaRPr lang="en-US" sz="1300" dirty="0"/>
          </a:p>
        </p:txBody>
      </p:sp>
      <p:sp>
        <p:nvSpPr>
          <p:cNvPr id="11" name="Text 7"/>
          <p:cNvSpPr txBox="1"/>
          <p:nvPr/>
        </p:nvSpPr>
        <p:spPr>
          <a:xfrm>
            <a:off x="8412480" y="4480560"/>
            <a:ext cx="3200400" cy="1097280"/>
          </a:xfrm>
          <a:prstGeom prst="rect">
            <a:avLst/>
          </a:prstGeom>
          <a:noFill/>
          <a:ln/>
        </p:spPr>
        <p:txBody>
          <a:bodyPr wrap="square" lIns="0" tIns="0" rIns="0" bIns="0" rtlCol="0" anchor="t"/>
          <a:lstStyle/>
          <a:p>
            <a:pPr indent="0" marL="0">
              <a:buNone/>
            </a:pPr>
            <a:r>
              <a:rPr lang="en-US" sz="1600" b="1" dirty="0">
                <a:solidFill>
                  <a:schemeClr val="tx2"/>
                </a:solidFill>
              </a:rPr>
              <a:t>Testing design changes the winner. Report the spatial number.</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Tuned on spatial CV, the SVM wins</a:t>
            </a:r>
            <a:endParaRPr lang="en-US" sz="3200" dirty="0"/>
          </a:p>
        </p:txBody>
      </p:sp>
      <p:sp>
        <p:nvSpPr>
          <p:cNvPr id="4" name="Stat card"/>
          <p:cNvSpPr/>
          <p:nvPr/>
        </p:nvSpPr>
        <p:spPr>
          <a:xfrm>
            <a:off x="548640" y="1371600"/>
            <a:ext cx="2743200" cy="1325880"/>
          </a:xfrm>
          <a:prstGeom prst="roundRect">
            <a:avLst>
              <a:gd name="adj" fmla="val 5517"/>
            </a:avLst>
          </a:prstGeom>
          <a:solidFill>
            <a:schemeClr val="bg2"/>
          </a:solidFill>
          <a:ln/>
        </p:spPr>
      </p:sp>
      <p:sp>
        <p:nvSpPr>
          <p:cNvPr id="5" name="Text 2"/>
          <p:cNvSpPr txBox="1"/>
          <p:nvPr/>
        </p:nvSpPr>
        <p:spPr>
          <a:xfrm>
            <a:off x="731520" y="1481328"/>
            <a:ext cx="23774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0.905</a:t>
            </a:r>
            <a:endParaRPr lang="en-US" sz="3600" dirty="0"/>
          </a:p>
        </p:txBody>
      </p:sp>
      <p:sp>
        <p:nvSpPr>
          <p:cNvPr id="6" name="Text 3"/>
          <p:cNvSpPr txBox="1"/>
          <p:nvPr/>
        </p:nvSpPr>
        <p:spPr>
          <a:xfrm>
            <a:off x="731520" y="2176272"/>
            <a:ext cx="2377440" cy="457200"/>
          </a:xfrm>
          <a:prstGeom prst="rect">
            <a:avLst/>
          </a:prstGeom>
          <a:noFill/>
          <a:ln/>
        </p:spPr>
        <p:txBody>
          <a:bodyPr wrap="square" lIns="0" tIns="0" rIns="0" bIns="0" rtlCol="0" anchor="t"/>
          <a:lstStyle/>
          <a:p>
            <a:pPr indent="0" marL="0">
              <a:buNone/>
            </a:pPr>
            <a:r>
              <a:rPr lang="en-US" sz="1300" dirty="0">
                <a:solidFill>
                  <a:schemeClr val="tx1"/>
                </a:solidFill>
              </a:rPr>
              <a:t>spatial ROC-AUC</a:t>
            </a:r>
            <a:endParaRPr lang="en-US" sz="1300" dirty="0"/>
          </a:p>
        </p:txBody>
      </p:sp>
      <p:sp>
        <p:nvSpPr>
          <p:cNvPr id="7" name="Stat card"/>
          <p:cNvSpPr/>
          <p:nvPr/>
        </p:nvSpPr>
        <p:spPr>
          <a:xfrm>
            <a:off x="3520440" y="1371600"/>
            <a:ext cx="2743200" cy="1325880"/>
          </a:xfrm>
          <a:prstGeom prst="roundRect">
            <a:avLst>
              <a:gd name="adj" fmla="val 5517"/>
            </a:avLst>
          </a:prstGeom>
          <a:solidFill>
            <a:schemeClr val="bg2"/>
          </a:solidFill>
          <a:ln/>
        </p:spPr>
      </p:sp>
      <p:sp>
        <p:nvSpPr>
          <p:cNvPr id="8" name="Text 5"/>
          <p:cNvSpPr txBox="1"/>
          <p:nvPr/>
        </p:nvSpPr>
        <p:spPr>
          <a:xfrm>
            <a:off x="3703320" y="1481328"/>
            <a:ext cx="237744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83.0%</a:t>
            </a:r>
            <a:endParaRPr lang="en-US" sz="3600" dirty="0"/>
          </a:p>
        </p:txBody>
      </p:sp>
      <p:sp>
        <p:nvSpPr>
          <p:cNvPr id="9" name="Text 6"/>
          <p:cNvSpPr txBox="1"/>
          <p:nvPr/>
        </p:nvSpPr>
        <p:spPr>
          <a:xfrm>
            <a:off x="3703320" y="2176272"/>
            <a:ext cx="2377440" cy="457200"/>
          </a:xfrm>
          <a:prstGeom prst="rect">
            <a:avLst/>
          </a:prstGeom>
          <a:noFill/>
          <a:ln/>
        </p:spPr>
        <p:txBody>
          <a:bodyPr wrap="square" lIns="0" tIns="0" rIns="0" bIns="0" rtlCol="0" anchor="t"/>
          <a:lstStyle/>
          <a:p>
            <a:pPr indent="0" marL="0">
              <a:buNone/>
            </a:pPr>
            <a:r>
              <a:rPr lang="en-US" sz="1300" dirty="0">
                <a:solidFill>
                  <a:schemeClr val="tx1"/>
                </a:solidFill>
              </a:rPr>
              <a:t>overall accuracy</a:t>
            </a:r>
            <a:endParaRPr lang="en-US" sz="1300" dirty="0"/>
          </a:p>
        </p:txBody>
      </p:sp>
      <p:sp>
        <p:nvSpPr>
          <p:cNvPr id="10" name="Stat card"/>
          <p:cNvSpPr/>
          <p:nvPr/>
        </p:nvSpPr>
        <p:spPr>
          <a:xfrm>
            <a:off x="6492240" y="1371600"/>
            <a:ext cx="2377440" cy="1325880"/>
          </a:xfrm>
          <a:prstGeom prst="roundRect">
            <a:avLst>
              <a:gd name="adj" fmla="val 5517"/>
            </a:avLst>
          </a:prstGeom>
          <a:solidFill>
            <a:schemeClr val="bg2"/>
          </a:solidFill>
          <a:ln/>
        </p:spPr>
      </p:sp>
      <p:sp>
        <p:nvSpPr>
          <p:cNvPr id="11" name="Text 8"/>
          <p:cNvSpPr txBox="1"/>
          <p:nvPr/>
        </p:nvSpPr>
        <p:spPr>
          <a:xfrm>
            <a:off x="6675120" y="1481328"/>
            <a:ext cx="201168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0.66</a:t>
            </a:r>
            <a:endParaRPr lang="en-US" sz="3600" dirty="0"/>
          </a:p>
        </p:txBody>
      </p:sp>
      <p:sp>
        <p:nvSpPr>
          <p:cNvPr id="12" name="Text 9"/>
          <p:cNvSpPr txBox="1"/>
          <p:nvPr/>
        </p:nvSpPr>
        <p:spPr>
          <a:xfrm>
            <a:off x="6675120" y="2176272"/>
            <a:ext cx="2011680" cy="457200"/>
          </a:xfrm>
          <a:prstGeom prst="rect">
            <a:avLst/>
          </a:prstGeom>
          <a:noFill/>
          <a:ln/>
        </p:spPr>
        <p:txBody>
          <a:bodyPr wrap="square" lIns="0" tIns="0" rIns="0" bIns="0" rtlCol="0" anchor="t"/>
          <a:lstStyle/>
          <a:p>
            <a:pPr indent="0" marL="0">
              <a:buNone/>
            </a:pPr>
            <a:r>
              <a:rPr lang="en-US" sz="1300" dirty="0">
                <a:solidFill>
                  <a:schemeClr val="tx1"/>
                </a:solidFill>
              </a:rPr>
              <a:t>Cohen's kappa</a:t>
            </a:r>
            <a:endParaRPr lang="en-US" sz="1300" dirty="0"/>
          </a:p>
        </p:txBody>
      </p:sp>
      <p:sp>
        <p:nvSpPr>
          <p:cNvPr id="13" name="Stat card"/>
          <p:cNvSpPr/>
          <p:nvPr/>
        </p:nvSpPr>
        <p:spPr>
          <a:xfrm>
            <a:off x="9098280" y="1371600"/>
            <a:ext cx="2514600" cy="1325880"/>
          </a:xfrm>
          <a:prstGeom prst="roundRect">
            <a:avLst>
              <a:gd name="adj" fmla="val 5517"/>
            </a:avLst>
          </a:prstGeom>
          <a:solidFill>
            <a:schemeClr val="bg2"/>
          </a:solidFill>
          <a:ln/>
        </p:spPr>
      </p:sp>
      <p:sp>
        <p:nvSpPr>
          <p:cNvPr id="14" name="Text 11"/>
          <p:cNvSpPr txBox="1"/>
          <p:nvPr/>
        </p:nvSpPr>
        <p:spPr>
          <a:xfrm>
            <a:off x="9281160" y="1481328"/>
            <a:ext cx="2148840" cy="68580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 0.05</a:t>
            </a:r>
            <a:endParaRPr lang="en-US" sz="3600" dirty="0"/>
          </a:p>
        </p:txBody>
      </p:sp>
      <p:sp>
        <p:nvSpPr>
          <p:cNvPr id="15" name="Text 12"/>
          <p:cNvSpPr txBox="1"/>
          <p:nvPr/>
        </p:nvSpPr>
        <p:spPr>
          <a:xfrm>
            <a:off x="9281160" y="2176272"/>
            <a:ext cx="2148840" cy="457200"/>
          </a:xfrm>
          <a:prstGeom prst="rect">
            <a:avLst/>
          </a:prstGeom>
          <a:noFill/>
          <a:ln/>
        </p:spPr>
        <p:txBody>
          <a:bodyPr wrap="square" lIns="0" tIns="0" rIns="0" bIns="0" rtlCol="0" anchor="t"/>
          <a:lstStyle/>
          <a:p>
            <a:pPr indent="0" marL="0">
              <a:buNone/>
            </a:pPr>
            <a:r>
              <a:rPr lang="en-US" sz="1300" dirty="0">
                <a:solidFill>
                  <a:schemeClr val="tx1"/>
                </a:solidFill>
              </a:rPr>
              <a:t>AUC gap between all tuned models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017520"/>
          <a:ext cx="6949440" cy="914400"/>
        </p:xfrm>
        <a:graphic>
          <a:graphicData uri="http://schemas.openxmlformats.org/drawingml/2006/table">
            <a:tbl>
              <a:tblPr/>
              <a:tblGrid>
                <a:gridCol w="1920240"/>
                <a:gridCol w="2651760"/>
                <a:gridCol w="1188720"/>
                <a:gridCol w="1188720"/>
              </a:tblGrid>
              <a:tr h="502920">
                <a:tc>
                  <a:txBody>
                    <a:bodyPr/>
                    <a:lstStyle/>
                    <a:p>
                      <a:pPr indent="0" marL="0">
                        <a:buNone/>
                      </a:pPr>
                      <a:r>
                        <a:rPr lang="en-US" sz="1500" b="1" dirty="0">
                          <a:solidFill>
                            <a:schemeClr val="bg1"/>
                          </a:solidFill>
                        </a:rPr>
                        <a:t>Model</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Spatial AUC default → tuned</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OA tuned</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Kappa</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r>
              <a:tr h="502920">
                <a:tc>
                  <a:txBody>
                    <a:bodyPr/>
                    <a:lstStyle/>
                    <a:p>
                      <a:pPr indent="0" marL="0">
                        <a:buNone/>
                      </a:pPr>
                      <a:r>
                        <a:rPr lang="en-US" sz="1500" dirty="0">
                          <a:solidFill>
                            <a:schemeClr val="tx1"/>
                          </a:solidFill>
                        </a:rPr>
                        <a:t>kNN</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0.876 → 0.888</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80.7%</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0.61</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502920">
                <a:tc>
                  <a:txBody>
                    <a:bodyPr/>
                    <a:lstStyle/>
                    <a:p>
                      <a:pPr indent="0" marL="0">
                        <a:buNone/>
                      </a:pPr>
                      <a:r>
                        <a:rPr lang="en-US" sz="1500" b="1" dirty="0">
                          <a:solidFill>
                            <a:schemeClr val="accent1"/>
                          </a:solidFill>
                        </a:rPr>
                        <a:t>SVM (final)</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b="1" dirty="0">
                          <a:solidFill>
                            <a:schemeClr val="accent1"/>
                          </a:solidFill>
                        </a:rPr>
                        <a:t>0.886 → 0.905</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b="1" dirty="0">
                          <a:solidFill>
                            <a:schemeClr val="accent1"/>
                          </a:solidFill>
                        </a:rPr>
                        <a:t>83.0%</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b="1" dirty="0">
                          <a:solidFill>
                            <a:schemeClr val="accent1"/>
                          </a:solidFill>
                        </a:rPr>
                        <a:t>0.66</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502920">
                <a:tc>
                  <a:txBody>
                    <a:bodyPr/>
                    <a:lstStyle/>
                    <a:p>
                      <a:pPr indent="0" marL="0">
                        <a:buNone/>
                      </a:pPr>
                      <a:r>
                        <a:rPr lang="en-US" sz="1500" dirty="0">
                          <a:solidFill>
                            <a:schemeClr val="tx1"/>
                          </a:solidFill>
                        </a:rPr>
                        <a:t>ANN</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0.901 → 0.901</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82.0%</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0.64</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502920">
                <a:tc>
                  <a:txBody>
                    <a:bodyPr/>
                    <a:lstStyle/>
                    <a:p>
                      <a:pPr indent="0" marL="0">
                        <a:buNone/>
                      </a:pPr>
                      <a:r>
                        <a:rPr lang="en-US" sz="1500" dirty="0">
                          <a:solidFill>
                            <a:schemeClr val="tx1"/>
                          </a:solidFill>
                        </a:rPr>
                        <a:t>Random Forest</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0.875 → 0.875</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78.6%</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0.57</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502920">
                <a:tc>
                  <a:txBody>
                    <a:bodyPr/>
                    <a:lstStyle/>
                    <a:p>
                      <a:pPr indent="0" marL="0">
                        <a:buNone/>
                      </a:pPr>
                      <a:r>
                        <a:rPr lang="en-US" sz="1500" dirty="0">
                          <a:solidFill>
                            <a:schemeClr val="tx1"/>
                          </a:solidFill>
                        </a:rPr>
                        <a:t>XGBoost</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0.851 → 0.860</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77.1%</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500" dirty="0">
                          <a:solidFill>
                            <a:schemeClr val="tx1"/>
                          </a:solidFill>
                        </a:rPr>
                        <a:t>0.54</a:t>
                      </a:r>
                      <a:endParaRPr lang="en-US" sz="15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bl>
          </a:graphicData>
        </a:graphic>
      </p:graphicFrame>
      <p:sp>
        <p:nvSpPr>
          <p:cNvPr id="17" name="Text 13"/>
          <p:cNvSpPr txBox="1"/>
          <p:nvPr/>
        </p:nvSpPr>
        <p:spPr>
          <a:xfrm>
            <a:off x="7863840" y="3108960"/>
            <a:ext cx="3749040" cy="1463040"/>
          </a:xfrm>
          <a:prstGeom prst="rect">
            <a:avLst/>
          </a:prstGeom>
          <a:noFill/>
          <a:ln/>
        </p:spPr>
        <p:txBody>
          <a:bodyPr wrap="square" lIns="0" tIns="0" rIns="0" bIns="0" rtlCol="0" anchor="t"/>
          <a:lstStyle/>
          <a:p>
            <a:pPr indent="0" marL="0">
              <a:buNone/>
            </a:pPr>
            <a:r>
              <a:rPr lang="en-US" sz="2000" i="1" dirty="0">
                <a:solidFill>
                  <a:schemeClr val="tx2"/>
                </a:solidFill>
                <a:latin typeface="Cambria" pitchFamily="34" charset="0"/>
                <a:ea typeface="Cambria" pitchFamily="34" charset="-122"/>
                <a:cs typeface="Cambria" pitchFamily="34" charset="-120"/>
              </a:rPr>
              <a:t>The sampling and testing design matters more than which algorithm you pick.</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Slope, rainfall and northness drive the predictions</a:t>
            </a:r>
            <a:endParaRPr lang="en-US" sz="3200" dirty="0"/>
          </a:p>
        </p:txBody>
      </p:sp>
      <p:graphicFrame>
        <p:nvGraphicFramePr>
          <p:cNvPr id="4" name="Chart 0" descr=""/>
          <p:cNvGraphicFramePr/>
          <p:nvPr/>
        </p:nvGraphicFramePr>
        <p:xfrm>
          <a:off x="548640" y="123444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5" name="Card"/>
          <p:cNvSpPr/>
          <p:nvPr/>
        </p:nvSpPr>
        <p:spPr>
          <a:xfrm>
            <a:off x="7863840" y="1371600"/>
            <a:ext cx="3749040" cy="1417320"/>
          </a:xfrm>
          <a:prstGeom prst="roundRect">
            <a:avLst>
              <a:gd name="adj" fmla="val 5161"/>
            </a:avLst>
          </a:prstGeom>
          <a:solidFill>
            <a:schemeClr val="bg2"/>
          </a:solidFill>
          <a:ln/>
        </p:spPr>
      </p:sp>
      <p:sp>
        <p:nvSpPr>
          <p:cNvPr id="6" name="Text 2"/>
          <p:cNvSpPr txBox="1"/>
          <p:nvPr/>
        </p:nvSpPr>
        <p:spPr>
          <a:xfrm>
            <a:off x="8092440" y="1554480"/>
            <a:ext cx="329184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Slope</a:t>
            </a:r>
            <a:endParaRPr lang="en-US" sz="1900" dirty="0"/>
          </a:p>
        </p:txBody>
      </p:sp>
      <p:sp>
        <p:nvSpPr>
          <p:cNvPr id="7" name="Text 3"/>
          <p:cNvSpPr txBox="1"/>
          <p:nvPr/>
        </p:nvSpPr>
        <p:spPr>
          <a:xfrm>
            <a:off x="8092440" y="2057400"/>
            <a:ext cx="3291840" cy="548640"/>
          </a:xfrm>
          <a:prstGeom prst="rect">
            <a:avLst/>
          </a:prstGeom>
          <a:noFill/>
          <a:ln/>
        </p:spPr>
        <p:txBody>
          <a:bodyPr wrap="square" lIns="0" tIns="0" rIns="0" bIns="0" rtlCol="0" anchor="t"/>
          <a:lstStyle/>
          <a:p>
            <a:pPr indent="0" marL="0">
              <a:buNone/>
            </a:pPr>
            <a:r>
              <a:rPr lang="en-US" sz="1500" dirty="0">
                <a:solidFill>
                  <a:schemeClr val="tx1"/>
                </a:solidFill>
              </a:rPr>
              <a:t>#1 in Random Forest, #2 in XGBoost: slope-stability mechanics</a:t>
            </a:r>
            <a:endParaRPr lang="en-US" sz="1500" dirty="0"/>
          </a:p>
        </p:txBody>
      </p:sp>
      <p:sp>
        <p:nvSpPr>
          <p:cNvPr id="8" name="Card"/>
          <p:cNvSpPr/>
          <p:nvPr/>
        </p:nvSpPr>
        <p:spPr>
          <a:xfrm>
            <a:off x="7863840" y="2971800"/>
            <a:ext cx="3749040" cy="1417320"/>
          </a:xfrm>
          <a:prstGeom prst="roundRect">
            <a:avLst>
              <a:gd name="adj" fmla="val 5161"/>
            </a:avLst>
          </a:prstGeom>
          <a:solidFill>
            <a:schemeClr val="bg2"/>
          </a:solidFill>
          <a:ln/>
        </p:spPr>
      </p:sp>
      <p:sp>
        <p:nvSpPr>
          <p:cNvPr id="9" name="Text 5"/>
          <p:cNvSpPr txBox="1"/>
          <p:nvPr/>
        </p:nvSpPr>
        <p:spPr>
          <a:xfrm>
            <a:off x="8092440" y="3154680"/>
            <a:ext cx="3291840" cy="457200"/>
          </a:xfrm>
          <a:prstGeom prst="rect">
            <a:avLst/>
          </a:prstGeom>
          <a:noFill/>
          <a:ln/>
        </p:spPr>
        <p:txBody>
          <a:bodyPr wrap="square" lIns="0" tIns="0" rIns="0" bIns="0" rtlCol="0" anchor="ctr"/>
          <a:lstStyle/>
          <a:p>
            <a:pPr indent="0" marL="0">
              <a:buNone/>
            </a:pPr>
            <a:r>
              <a:rPr lang="en-US" sz="1900" b="1" dirty="0">
                <a:solidFill>
                  <a:schemeClr val="accent1"/>
                </a:solidFill>
                <a:latin typeface="Cambria" pitchFamily="34" charset="0"/>
                <a:ea typeface="Cambria" pitchFamily="34" charset="-122"/>
                <a:cs typeface="Cambria" pitchFamily="34" charset="-120"/>
              </a:rPr>
              <a:t>Rainfall</a:t>
            </a:r>
            <a:endParaRPr lang="en-US" sz="1900" dirty="0"/>
          </a:p>
        </p:txBody>
      </p:sp>
      <p:sp>
        <p:nvSpPr>
          <p:cNvPr id="10" name="Text 6"/>
          <p:cNvSpPr txBox="1"/>
          <p:nvPr/>
        </p:nvSpPr>
        <p:spPr>
          <a:xfrm>
            <a:off x="8092440" y="3657600"/>
            <a:ext cx="3291840" cy="548640"/>
          </a:xfrm>
          <a:prstGeom prst="rect">
            <a:avLst/>
          </a:prstGeom>
          <a:noFill/>
          <a:ln/>
        </p:spPr>
        <p:txBody>
          <a:bodyPr wrap="square" lIns="0" tIns="0" rIns="0" bIns="0" rtlCol="0" anchor="t"/>
          <a:lstStyle/>
          <a:p>
            <a:pPr indent="0" marL="0">
              <a:buNone/>
            </a:pPr>
            <a:r>
              <a:rPr lang="en-US" sz="1500" dirty="0">
                <a:solidFill>
                  <a:schemeClr val="tx1"/>
                </a:solidFill>
              </a:rPr>
              <a:t>#1 in XGBoost, but the 5.5 km grid may act partly as a location label</a:t>
            </a:r>
            <a:endParaRPr lang="en-US" sz="1500" dirty="0"/>
          </a:p>
        </p:txBody>
      </p:sp>
      <p:sp>
        <p:nvSpPr>
          <p:cNvPr id="11" name="Card"/>
          <p:cNvSpPr/>
          <p:nvPr/>
        </p:nvSpPr>
        <p:spPr>
          <a:xfrm>
            <a:off x="7863840" y="4572000"/>
            <a:ext cx="3749040" cy="1417320"/>
          </a:xfrm>
          <a:prstGeom prst="roundRect">
            <a:avLst>
              <a:gd name="adj" fmla="val 5161"/>
            </a:avLst>
          </a:prstGeom>
          <a:solidFill>
            <a:schemeClr val="bg2"/>
          </a:solidFill>
          <a:ln/>
        </p:spPr>
      </p:sp>
      <p:sp>
        <p:nvSpPr>
          <p:cNvPr id="12" name="Text 8"/>
          <p:cNvSpPr txBox="1"/>
          <p:nvPr/>
        </p:nvSpPr>
        <p:spPr>
          <a:xfrm>
            <a:off x="8092440" y="4754880"/>
            <a:ext cx="3291840" cy="457200"/>
          </a:xfrm>
          <a:prstGeom prst="rect">
            <a:avLst/>
          </a:prstGeom>
          <a:noFill/>
          <a:ln/>
        </p:spPr>
        <p:txBody>
          <a:bodyPr wrap="square" lIns="0" tIns="0" rIns="0" bIns="0" rtlCol="0" anchor="ctr"/>
          <a:lstStyle/>
          <a:p>
            <a:pPr indent="0" marL="0">
              <a:buNone/>
            </a:pPr>
            <a:r>
              <a:rPr lang="en-US" sz="1900" b="1" dirty="0">
                <a:solidFill>
                  <a:schemeClr val="accent4"/>
                </a:solidFill>
                <a:latin typeface="Cambria" pitchFamily="34" charset="0"/>
                <a:ea typeface="Cambria" pitchFamily="34" charset="-122"/>
                <a:cs typeface="Cambria" pitchFamily="34" charset="-120"/>
              </a:rPr>
              <a:t>Weakest</a:t>
            </a:r>
            <a:endParaRPr lang="en-US" sz="1900" dirty="0"/>
          </a:p>
        </p:txBody>
      </p:sp>
      <p:sp>
        <p:nvSpPr>
          <p:cNvPr id="13" name="Text 9"/>
          <p:cNvSpPr txBox="1"/>
          <p:nvPr/>
        </p:nvSpPr>
        <p:spPr>
          <a:xfrm>
            <a:off x="8092440" y="5257800"/>
            <a:ext cx="3291840" cy="548640"/>
          </a:xfrm>
          <a:prstGeom prst="rect">
            <a:avLst/>
          </a:prstGeom>
          <a:noFill/>
          <a:ln/>
        </p:spPr>
        <p:txBody>
          <a:bodyPr wrap="square" lIns="0" tIns="0" rIns="0" bIns="0" rtlCol="0" anchor="t"/>
          <a:lstStyle/>
          <a:p>
            <a:pPr indent="0" marL="0">
              <a:buNone/>
            </a:pPr>
            <a:r>
              <a:rPr lang="en-US" sz="1500" dirty="0">
                <a:solidFill>
                  <a:schemeClr val="tx1"/>
                </a:solidFill>
              </a:rPr>
              <a:t>TWI, drainage, soil clay: coarse 90-250 m source data</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A tenth of the area holds two-thirds of the landslides</a:t>
            </a:r>
            <a:endParaRPr lang="en-US" sz="3200" dirty="0"/>
          </a:p>
        </p:txBody>
      </p:sp>
      <p:pic>
        <p:nvPicPr>
          <p:cNvPr id="4" name="Susceptibility map" descr="/tmp/claude-0/ppt/susc.jpg">    </p:cNvPr>
          <p:cNvPicPr>
            <a:picLocks noChangeAspect="1"/>
          </p:cNvPicPr>
          <p:nvPr/>
        </p:nvPicPr>
        <p:blipFill>
          <a:blip r:embed="rId1"/>
          <a:stretch>
            <a:fillRect/>
          </a:stretch>
        </p:blipFill>
        <p:spPr>
          <a:xfrm>
            <a:off x="548640" y="1234440"/>
            <a:ext cx="8001000" cy="493776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778240" y="1280160"/>
          <a:ext cx="2834640" cy="914400"/>
        </p:xfrm>
        <a:graphic>
          <a:graphicData uri="http://schemas.openxmlformats.org/drawingml/2006/table">
            <a:tbl>
              <a:tblPr/>
              <a:tblGrid>
                <a:gridCol w="1051560"/>
                <a:gridCol w="640080"/>
                <a:gridCol w="640080"/>
                <a:gridCol w="502920"/>
              </a:tblGrid>
              <a:tr h="365760">
                <a:tc>
                  <a:txBody>
                    <a:bodyPr/>
                    <a:lstStyle/>
                    <a:p>
                      <a:pPr indent="0" marL="0">
                        <a:buNone/>
                      </a:pPr>
                      <a:r>
                        <a:rPr lang="en-US" sz="1200" b="1" dirty="0">
                          <a:solidFill>
                            <a:schemeClr val="bg1"/>
                          </a:solidFill>
                        </a:rPr>
                        <a:t>Zone</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Area</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Slides</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FR</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rPr>
                        <a:t>Very Low</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50.0%</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3.1%</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0.06</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365760">
                <a:tc>
                  <a:txBody>
                    <a:bodyPr/>
                    <a:lstStyle/>
                    <a:p>
                      <a:pPr indent="0" marL="0">
                        <a:buNone/>
                      </a:pPr>
                      <a:r>
                        <a:rPr lang="en-US" sz="1200" dirty="0">
                          <a:solidFill>
                            <a:schemeClr val="tx1"/>
                          </a:solidFill>
                        </a:rPr>
                        <a:t>Low</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18.8%</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4.9%</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0.26</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365760">
                <a:tc>
                  <a:txBody>
                    <a:bodyPr/>
                    <a:lstStyle/>
                    <a:p>
                      <a:pPr indent="0" marL="0">
                        <a:buNone/>
                      </a:pPr>
                      <a:r>
                        <a:rPr lang="en-US" sz="1200" dirty="0">
                          <a:solidFill>
                            <a:schemeClr val="tx1"/>
                          </a:solidFill>
                        </a:rPr>
                        <a:t>Moderate</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11.4%</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8.7%</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0.77</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365760">
                <a:tc>
                  <a:txBody>
                    <a:bodyPr/>
                    <a:lstStyle/>
                    <a:p>
                      <a:pPr indent="0" marL="0">
                        <a:buNone/>
                      </a:pPr>
                      <a:r>
                        <a:rPr lang="en-US" sz="1200" dirty="0">
                          <a:solidFill>
                            <a:schemeClr val="tx1"/>
                          </a:solidFill>
                        </a:rPr>
                        <a:t>High</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9.5%</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16.1%</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dirty="0">
                          <a:solidFill>
                            <a:schemeClr val="tx1"/>
                          </a:solidFill>
                        </a:rPr>
                        <a:t>1.70</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r h="365760">
                <a:tc>
                  <a:txBody>
                    <a:bodyPr/>
                    <a:lstStyle/>
                    <a:p>
                      <a:pPr indent="0" marL="0">
                        <a:buNone/>
                      </a:pPr>
                      <a:r>
                        <a:rPr lang="en-US" sz="1200" b="1" dirty="0">
                          <a:solidFill>
                            <a:schemeClr val="accent1"/>
                          </a:solidFill>
                        </a:rPr>
                        <a:t>Very High</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b="1" dirty="0">
                          <a:solidFill>
                            <a:schemeClr val="accent1"/>
                          </a:solidFill>
                        </a:rPr>
                        <a:t>10.4%</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b="1" dirty="0">
                          <a:solidFill>
                            <a:schemeClr val="accent1"/>
                          </a:solidFill>
                        </a:rPr>
                        <a:t>67.3%</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c>
                  <a:txBody>
                    <a:bodyPr/>
                    <a:lstStyle/>
                    <a:p>
                      <a:pPr indent="0" marL="0">
                        <a:buNone/>
                      </a:pPr>
                      <a:r>
                        <a:rPr lang="en-US" sz="1200" b="1" dirty="0">
                          <a:solidFill>
                            <a:schemeClr val="accent1"/>
                          </a:solidFill>
                        </a:rPr>
                        <a:t>6.45</a:t>
                      </a:r>
                      <a:endParaRPr lang="en-US" sz="1200" dirty="0"/>
                    </a:p>
                  </a:txBody>
                  <a:tcPr marL="91440" marR="91440" marT="45720" marB="45720">
                    <a:lnL w="6350" cap="flat" cmpd="sng" algn="ctr">
                      <a:solidFill>
                        <a:srgbClr val="DDE3E0"/>
                      </a:solidFill>
                      <a:prstDash val="solid"/>
                      <a:round/>
                      <a:headEnd type="none" w="med" len="med"/>
                      <a:tailEnd type="none" w="med" len="med"/>
                    </a:lnL>
                    <a:lnR w="6350" cap="flat" cmpd="sng" algn="ctr">
                      <a:solidFill>
                        <a:srgbClr val="DDE3E0"/>
                      </a:solidFill>
                      <a:prstDash val="solid"/>
                      <a:round/>
                      <a:headEnd type="none" w="med" len="med"/>
                      <a:tailEnd type="none" w="med" len="med"/>
                    </a:lnR>
                    <a:lnT w="6350" cap="flat" cmpd="sng" algn="ctr">
                      <a:solidFill>
                        <a:srgbClr val="DDE3E0"/>
                      </a:solidFill>
                      <a:prstDash val="solid"/>
                      <a:round/>
                      <a:headEnd type="none" w="med" len="med"/>
                      <a:tailEnd type="none" w="med" len="med"/>
                    </a:lnT>
                    <a:lnB w="6350" cap="flat" cmpd="sng" algn="ctr">
                      <a:solidFill>
                        <a:srgbClr val="DDE3E0"/>
                      </a:solidFill>
                      <a:prstDash val="solid"/>
                      <a:round/>
                      <a:headEnd type="none" w="med" len="med"/>
                      <a:tailEnd type="none" w="med" len="med"/>
                    </a:lnB>
                  </a:tcPr>
                </a:tc>
              </a:tr>
            </a:tbl>
          </a:graphicData>
        </a:graphic>
      </p:graphicFrame>
      <p:sp>
        <p:nvSpPr>
          <p:cNvPr id="6" name="Text 1"/>
          <p:cNvSpPr txBox="1"/>
          <p:nvPr/>
        </p:nvSpPr>
        <p:spPr>
          <a:xfrm>
            <a:off x="8778240" y="3840480"/>
            <a:ext cx="2834640" cy="2103120"/>
          </a:xfrm>
          <a:prstGeom prst="rect">
            <a:avLst/>
          </a:prstGeom>
          <a:noFill/>
          <a:ln/>
        </p:spPr>
        <p:txBody>
          <a:bodyPr wrap="square" lIns="0" tIns="0" rIns="0" bIns="0" rtlCol="0" anchor="t"/>
          <a:lstStyle/>
          <a:p>
            <a:pPr indent="0" marL="0">
              <a:buNone/>
            </a:pPr>
            <a:r>
              <a:rPr lang="en-US" sz="1400" dirty="0">
                <a:solidFill>
                  <a:schemeClr val="tx1"/>
                </a:solidFill>
              </a:rPr>
              <a:t>83.3% of mapped slides fall in High + Very High. Frequency ratio = share of slides ÷ share of area.</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Roads, not homes, carry the risk</a:t>
            </a:r>
            <a:endParaRPr lang="en-US" sz="3200" dirty="0"/>
          </a:p>
        </p:txBody>
      </p:sp>
      <p:pic>
        <p:nvPicPr>
          <p:cNvPr id="4" name="Exposure map" descr="/tmp/claude-0/ppt/risk_map.jpg">    </p:cNvPr>
          <p:cNvPicPr>
            <a:picLocks noChangeAspect="1"/>
          </p:cNvPicPr>
          <p:nvPr/>
        </p:nvPicPr>
        <p:blipFill>
          <a:blip r:embed="rId1"/>
          <a:stretch>
            <a:fillRect/>
          </a:stretch>
        </p:blipFill>
        <p:spPr>
          <a:xfrm>
            <a:off x="731520" y="1234440"/>
            <a:ext cx="4498848" cy="4937760"/>
          </a:xfrm>
          <a:prstGeom prst="rect">
            <a:avLst/>
          </a:prstGeom>
        </p:spPr>
      </p:pic>
      <p:sp>
        <p:nvSpPr>
          <p:cNvPr id="5" name="Stat card"/>
          <p:cNvSpPr/>
          <p:nvPr/>
        </p:nvSpPr>
        <p:spPr>
          <a:xfrm>
            <a:off x="5852160" y="1371600"/>
            <a:ext cx="2788920" cy="1325880"/>
          </a:xfrm>
          <a:prstGeom prst="roundRect">
            <a:avLst>
              <a:gd name="adj" fmla="val 5517"/>
            </a:avLst>
          </a:prstGeom>
          <a:solidFill>
            <a:schemeClr val="bg2"/>
          </a:solidFill>
          <a:ln/>
        </p:spPr>
      </p:sp>
      <p:sp>
        <p:nvSpPr>
          <p:cNvPr id="6" name="Text 2"/>
          <p:cNvSpPr txBox="1"/>
          <p:nvPr/>
        </p:nvSpPr>
        <p:spPr>
          <a:xfrm>
            <a:off x="6035040" y="1481328"/>
            <a:ext cx="24231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71.9 km</a:t>
            </a:r>
            <a:endParaRPr lang="en-US" sz="3600" dirty="0"/>
          </a:p>
        </p:txBody>
      </p:sp>
      <p:sp>
        <p:nvSpPr>
          <p:cNvPr id="7" name="Text 3"/>
          <p:cNvSpPr txBox="1"/>
          <p:nvPr/>
        </p:nvSpPr>
        <p:spPr>
          <a:xfrm>
            <a:off x="6035040" y="2176272"/>
            <a:ext cx="2423160" cy="457200"/>
          </a:xfrm>
          <a:prstGeom prst="rect">
            <a:avLst/>
          </a:prstGeom>
          <a:noFill/>
          <a:ln/>
        </p:spPr>
        <p:txBody>
          <a:bodyPr wrap="square" lIns="0" tIns="0" rIns="0" bIns="0" rtlCol="0" anchor="t"/>
          <a:lstStyle/>
          <a:p>
            <a:pPr indent="0" marL="0">
              <a:buNone/>
            </a:pPr>
            <a:r>
              <a:rPr lang="en-US" sz="1300" dirty="0">
                <a:solidFill>
                  <a:schemeClr val="tx1"/>
                </a:solidFill>
              </a:rPr>
              <a:t>major roads in High + Very High (10.5%)</a:t>
            </a:r>
            <a:endParaRPr lang="en-US" sz="1300" dirty="0"/>
          </a:p>
        </p:txBody>
      </p:sp>
      <p:sp>
        <p:nvSpPr>
          <p:cNvPr id="8" name="Stat card"/>
          <p:cNvSpPr/>
          <p:nvPr/>
        </p:nvSpPr>
        <p:spPr>
          <a:xfrm>
            <a:off x="8823960" y="1371600"/>
            <a:ext cx="2788920" cy="1325880"/>
          </a:xfrm>
          <a:prstGeom prst="roundRect">
            <a:avLst>
              <a:gd name="adj" fmla="val 5517"/>
            </a:avLst>
          </a:prstGeom>
          <a:solidFill>
            <a:schemeClr val="bg2"/>
          </a:solidFill>
          <a:ln/>
        </p:spPr>
      </p:sp>
      <p:sp>
        <p:nvSpPr>
          <p:cNvPr id="9" name="Text 5"/>
          <p:cNvSpPr txBox="1"/>
          <p:nvPr/>
        </p:nvSpPr>
        <p:spPr>
          <a:xfrm>
            <a:off x="9006840" y="1481328"/>
            <a:ext cx="24231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~57,000</a:t>
            </a:r>
            <a:endParaRPr lang="en-US" sz="3600" dirty="0"/>
          </a:p>
        </p:txBody>
      </p:sp>
      <p:sp>
        <p:nvSpPr>
          <p:cNvPr id="10" name="Text 6"/>
          <p:cNvSpPr txBox="1"/>
          <p:nvPr/>
        </p:nvSpPr>
        <p:spPr>
          <a:xfrm>
            <a:off x="9006840" y="2176272"/>
            <a:ext cx="2423160" cy="457200"/>
          </a:xfrm>
          <a:prstGeom prst="rect">
            <a:avLst/>
          </a:prstGeom>
          <a:noFill/>
          <a:ln/>
        </p:spPr>
        <p:txBody>
          <a:bodyPr wrap="square" lIns="0" tIns="0" rIns="0" bIns="0" rtlCol="0" anchor="t"/>
          <a:lstStyle/>
          <a:p>
            <a:pPr indent="0" marL="0">
              <a:buNone/>
            </a:pPr>
            <a:r>
              <a:rPr lang="en-US" sz="1300" dirty="0">
                <a:solidFill>
                  <a:schemeClr val="tx1"/>
                </a:solidFill>
              </a:rPr>
              <a:t>people in High + Very High (6.0%)</a:t>
            </a:r>
            <a:endParaRPr lang="en-US" sz="1300" dirty="0"/>
          </a:p>
        </p:txBody>
      </p:sp>
      <p:sp>
        <p:nvSpPr>
          <p:cNvPr id="11" name="Stat card"/>
          <p:cNvSpPr/>
          <p:nvPr/>
        </p:nvSpPr>
        <p:spPr>
          <a:xfrm>
            <a:off x="5852160" y="2880360"/>
            <a:ext cx="2788920" cy="1325880"/>
          </a:xfrm>
          <a:prstGeom prst="roundRect">
            <a:avLst>
              <a:gd name="adj" fmla="val 5517"/>
            </a:avLst>
          </a:prstGeom>
          <a:solidFill>
            <a:schemeClr val="bg2"/>
          </a:solidFill>
          <a:ln/>
        </p:spPr>
      </p:sp>
      <p:sp>
        <p:nvSpPr>
          <p:cNvPr id="12" name="Text 8"/>
          <p:cNvSpPr txBox="1"/>
          <p:nvPr/>
        </p:nvSpPr>
        <p:spPr>
          <a:xfrm>
            <a:off x="6035040" y="2990088"/>
            <a:ext cx="242316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40</a:t>
            </a:r>
            <a:endParaRPr lang="en-US" sz="3600" dirty="0"/>
          </a:p>
        </p:txBody>
      </p:sp>
      <p:sp>
        <p:nvSpPr>
          <p:cNvPr id="13" name="Text 9"/>
          <p:cNvSpPr txBox="1"/>
          <p:nvPr/>
        </p:nvSpPr>
        <p:spPr>
          <a:xfrm>
            <a:off x="6035040" y="3685032"/>
            <a:ext cx="2423160" cy="457200"/>
          </a:xfrm>
          <a:prstGeom prst="rect">
            <a:avLst/>
          </a:prstGeom>
          <a:noFill/>
          <a:ln/>
        </p:spPr>
        <p:txBody>
          <a:bodyPr wrap="square" lIns="0" tIns="0" rIns="0" bIns="0" rtlCol="0" anchor="t"/>
          <a:lstStyle/>
          <a:p>
            <a:pPr indent="0" marL="0">
              <a:buNone/>
            </a:pPr>
            <a:r>
              <a:rPr lang="en-US" sz="1300" dirty="0">
                <a:solidFill>
                  <a:schemeClr val="tx1"/>
                </a:solidFill>
              </a:rPr>
              <a:t>priority road stretches, 17.5 km in total</a:t>
            </a:r>
            <a:endParaRPr lang="en-US" sz="1300" dirty="0"/>
          </a:p>
        </p:txBody>
      </p:sp>
      <p:sp>
        <p:nvSpPr>
          <p:cNvPr id="14" name="Stat card"/>
          <p:cNvSpPr/>
          <p:nvPr/>
        </p:nvSpPr>
        <p:spPr>
          <a:xfrm>
            <a:off x="8823960" y="2880360"/>
            <a:ext cx="2788920" cy="1325880"/>
          </a:xfrm>
          <a:prstGeom prst="roundRect">
            <a:avLst>
              <a:gd name="adj" fmla="val 5517"/>
            </a:avLst>
          </a:prstGeom>
          <a:solidFill>
            <a:schemeClr val="bg2"/>
          </a:solidFill>
          <a:ln/>
        </p:spPr>
      </p:sp>
      <p:sp>
        <p:nvSpPr>
          <p:cNvPr id="15" name="Text 11"/>
          <p:cNvSpPr txBox="1"/>
          <p:nvPr/>
        </p:nvSpPr>
        <p:spPr>
          <a:xfrm>
            <a:off x="9006840" y="2990088"/>
            <a:ext cx="242316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28.2%</a:t>
            </a:r>
            <a:endParaRPr lang="en-US" sz="3600" dirty="0"/>
          </a:p>
        </p:txBody>
      </p:sp>
      <p:sp>
        <p:nvSpPr>
          <p:cNvPr id="16" name="Text 12"/>
          <p:cNvSpPr txBox="1"/>
          <p:nvPr/>
        </p:nvSpPr>
        <p:spPr>
          <a:xfrm>
            <a:off x="9006840" y="3685032"/>
            <a:ext cx="2423160" cy="457200"/>
          </a:xfrm>
          <a:prstGeom prst="rect">
            <a:avLst/>
          </a:prstGeom>
          <a:noFill/>
          <a:ln/>
        </p:spPr>
        <p:txBody>
          <a:bodyPr wrap="square" lIns="0" tIns="0" rIns="0" bIns="0" rtlCol="0" anchor="t"/>
          <a:lstStyle/>
          <a:p>
            <a:pPr indent="0" marL="0">
              <a:buNone/>
            </a:pPr>
            <a:r>
              <a:rPr lang="en-US" sz="1300" dirty="0">
                <a:solidFill>
                  <a:schemeClr val="tx1"/>
                </a:solidFill>
              </a:rPr>
              <a:t>of the Kangra part is High or Very High</a:t>
            </a:r>
            <a:endParaRPr lang="en-US" sz="1300" dirty="0"/>
          </a:p>
        </p:txBody>
      </p:sp>
      <p:sp>
        <p:nvSpPr>
          <p:cNvPr id="17" name="Text 13"/>
          <p:cNvSpPr txBox="1"/>
          <p:nvPr/>
        </p:nvSpPr>
        <p:spPr>
          <a:xfrm>
            <a:off x="5852160" y="4480560"/>
            <a:ext cx="5760720" cy="1463040"/>
          </a:xfrm>
          <a:prstGeom prst="rect">
            <a:avLst/>
          </a:prstGeom>
          <a:noFill/>
          <a:ln/>
        </p:spPr>
        <p:txBody>
          <a:bodyPr wrap="square" rtlCol="0" anchor="t"/>
          <a:lstStyle/>
          <a:p>
            <a:pPr marL="342900" indent="-342900">
              <a:spcAft>
                <a:spcPts val="800"/>
              </a:spcAft>
              <a:buSzPct val="100000"/>
              <a:buChar char="•"/>
            </a:pPr>
            <a:r>
              <a:rPr lang="en-US" sz="1500" dirty="0">
                <a:solidFill>
                  <a:schemeClr val="tx1"/>
                </a:solidFill>
              </a:rPr>
              <a:t>74% of people and 88% of built-up land sit in the Very Low zone</a:t>
            </a:r>
            <a:endParaRPr lang="en-US" sz="1500" dirty="0"/>
          </a:p>
          <a:p>
            <a:pPr marL="342900" indent="-342900">
              <a:spcAft>
                <a:spcPts val="800"/>
              </a:spcAft>
              <a:buSzPct val="100000"/>
              <a:buChar char="•"/>
            </a:pPr>
            <a:r>
              <a:rPr lang="en-US" sz="1500" dirty="0">
                <a:solidFill>
                  <a:schemeClr val="tx1"/>
                </a:solidFill>
              </a:rPr>
              <a:t>Roads must cross the hills, so they are the exposed asset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itle"/>
          <p:cNvSpPr txBox="1"/>
          <p:nvPr/>
        </p:nvSpPr>
        <p:spPr>
          <a:xfrm>
            <a:off x="548640" y="365760"/>
            <a:ext cx="11064240" cy="731520"/>
          </a:xfrm>
          <a:prstGeom prst="rect">
            <a:avLst/>
          </a:prstGeom>
          <a:noFill/>
          <a:ln/>
        </p:spPr>
        <p:txBody>
          <a:bodyPr wrap="square" lIns="0" tIns="0" rIns="0" bIns="0" rtlCol="0" anchor="t"/>
          <a:lstStyle/>
          <a:p>
            <a:pPr indent="0" marL="0">
              <a:buNone/>
            </a:pPr>
            <a:r>
              <a:rPr lang="en-US" sz="3200" b="1" dirty="0">
                <a:solidFill>
                  <a:schemeClr val="tx2"/>
                </a:solidFill>
                <a:latin typeface="Cambria" pitchFamily="34" charset="0"/>
                <a:ea typeface="Cambria" pitchFamily="34" charset="-122"/>
                <a:cs typeface="Cambria" pitchFamily="34" charset="-120"/>
              </a:rPr>
              <a:t>What the map cannot tell you yet</a:t>
            </a:r>
            <a:endParaRPr lang="en-US" sz="3200" dirty="0"/>
          </a:p>
        </p:txBody>
      </p:sp>
      <p:sp>
        <p:nvSpPr>
          <p:cNvPr id="4" name="Card"/>
          <p:cNvSpPr/>
          <p:nvPr/>
        </p:nvSpPr>
        <p:spPr>
          <a:xfrm>
            <a:off x="548640" y="1371600"/>
            <a:ext cx="5394960" cy="2194560"/>
          </a:xfrm>
          <a:prstGeom prst="roundRect">
            <a:avLst>
              <a:gd name="adj" fmla="val 3333"/>
            </a:avLst>
          </a:prstGeom>
          <a:solidFill>
            <a:schemeClr val="bg2"/>
          </a:solidFill>
          <a:ln/>
        </p:spPr>
      </p:sp>
      <p:sp>
        <p:nvSpPr>
          <p:cNvPr id="5" name="Text 2"/>
          <p:cNvSpPr txBox="1"/>
          <p:nvPr/>
        </p:nvSpPr>
        <p:spPr>
          <a:xfrm>
            <a:off x="777240" y="1554480"/>
            <a:ext cx="4937760" cy="45720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Context checks (Cell 16)</a:t>
            </a:r>
            <a:endParaRPr lang="en-US" sz="1900" dirty="0"/>
          </a:p>
        </p:txBody>
      </p:sp>
      <p:sp>
        <p:nvSpPr>
          <p:cNvPr id="6" name="Text 3"/>
          <p:cNvSpPr txBox="1"/>
          <p:nvPr/>
        </p:nvSpPr>
        <p:spPr>
          <a:xfrm>
            <a:off x="777240" y="2057400"/>
            <a:ext cx="4937760" cy="1325880"/>
          </a:xfrm>
          <a:prstGeom prst="rect">
            <a:avLst/>
          </a:prstGeom>
          <a:noFill/>
          <a:ln/>
        </p:spPr>
        <p:txBody>
          <a:bodyPr wrap="square" lIns="0" tIns="0" rIns="0" bIns="0" rtlCol="0" anchor="t"/>
          <a:lstStyle/>
          <a:p>
            <a:pPr indent="0" marL="0">
              <a:buNone/>
            </a:pPr>
            <a:r>
              <a:rPr lang="en-US" sz="1500" dirty="0">
                <a:solidFill>
                  <a:schemeClr val="tx1"/>
                </a:solidFill>
              </a:rPr>
              <a:t>Area got greener: NDVI 0.57 → 0.64. 2023 slides were not where vegetation was lost.</a:t>
            </a:r>
            <a:endParaRPr lang="en-US" sz="1500" dirty="0"/>
          </a:p>
          <a:p>
            <a:pPr indent="0" marL="0">
              <a:buNone/>
            </a:pPr>
            <a:r>
              <a:rPr lang="en-US" sz="1500" dirty="0">
                <a:solidFill>
                  <a:schemeClr val="tx1"/>
                </a:solidFill>
              </a:rPr>
              <a:t>Earthquakes: 101 M3+ within 150 km, all slides rainfall-triggered.</a:t>
            </a:r>
            <a:endParaRPr lang="en-US" sz="1500" dirty="0"/>
          </a:p>
        </p:txBody>
      </p:sp>
      <p:sp>
        <p:nvSpPr>
          <p:cNvPr id="7" name="Card"/>
          <p:cNvSpPr/>
          <p:nvPr/>
        </p:nvSpPr>
        <p:spPr>
          <a:xfrm>
            <a:off x="548640" y="3749040"/>
            <a:ext cx="5394960" cy="2194560"/>
          </a:xfrm>
          <a:prstGeom prst="roundRect">
            <a:avLst>
              <a:gd name="adj" fmla="val 3333"/>
            </a:avLst>
          </a:prstGeom>
          <a:solidFill>
            <a:schemeClr val="bg2"/>
          </a:solidFill>
          <a:ln/>
        </p:spPr>
      </p:sp>
      <p:sp>
        <p:nvSpPr>
          <p:cNvPr id="8" name="Text 5"/>
          <p:cNvSpPr txBox="1"/>
          <p:nvPr/>
        </p:nvSpPr>
        <p:spPr>
          <a:xfrm>
            <a:off x="777240" y="3931920"/>
            <a:ext cx="493776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Next steps</a:t>
            </a:r>
            <a:endParaRPr lang="en-US" sz="1900" dirty="0"/>
          </a:p>
        </p:txBody>
      </p:sp>
      <p:sp>
        <p:nvSpPr>
          <p:cNvPr id="9" name="Text 6"/>
          <p:cNvSpPr txBox="1"/>
          <p:nvPr/>
        </p:nvSpPr>
        <p:spPr>
          <a:xfrm>
            <a:off x="777240" y="4434840"/>
            <a:ext cx="4937760" cy="1325880"/>
          </a:xfrm>
          <a:prstGeom prst="rect">
            <a:avLst/>
          </a:prstGeom>
          <a:noFill/>
          <a:ln/>
        </p:spPr>
        <p:txBody>
          <a:bodyPr wrap="square" lIns="0" tIns="0" rIns="0" bIns="0" rtlCol="0" anchor="t"/>
          <a:lstStyle/>
          <a:p>
            <a:pPr indent="0" marL="0">
              <a:buNone/>
            </a:pPr>
            <a:r>
              <a:rPr lang="en-US" sz="1500" dirty="0">
                <a:solidFill>
                  <a:schemeClr val="tx1"/>
                </a:solidFill>
              </a:rPr>
              <a:t>Add a lithology layer · IMD gridded rainfall · geotechnical c and φ · test on the next Bhuvan monsoon inventory</a:t>
            </a:r>
            <a:endParaRPr lang="en-US" sz="1500" dirty="0"/>
          </a:p>
        </p:txBody>
      </p:sp>
      <p:sp>
        <p:nvSpPr>
          <p:cNvPr id="10" name="Text 7"/>
          <p:cNvSpPr txBox="1"/>
          <p:nvPr/>
        </p:nvSpPr>
        <p:spPr>
          <a:xfrm>
            <a:off x="6309360" y="1371600"/>
            <a:ext cx="5303520" cy="4572000"/>
          </a:xfrm>
          <a:prstGeom prst="rect">
            <a:avLst/>
          </a:prstGeom>
          <a:noFill/>
          <a:ln/>
        </p:spPr>
        <p:txBody>
          <a:bodyPr wrap="square" rtlCol="0" anchor="t"/>
          <a:lstStyle/>
          <a:p>
            <a:pPr marL="342900" indent="-342900">
              <a:spcAft>
                <a:spcPts val="800"/>
              </a:spcAft>
              <a:buSzPct val="100000"/>
              <a:buChar char="•"/>
            </a:pPr>
            <a:r>
              <a:rPr lang="en-US" sz="1600" dirty="0">
                <a:solidFill>
                  <a:schemeClr val="tx1"/>
                </a:solidFill>
              </a:rPr>
              <a:t>No lithology input, though 76.6% of slides are in sandstone and boulder-conglomerate units</a:t>
            </a:r>
            <a:endParaRPr lang="en-US" sz="1600" dirty="0"/>
          </a:p>
          <a:p>
            <a:pPr marL="342900" indent="-342900">
              <a:spcAft>
                <a:spcPts val="800"/>
              </a:spcAft>
              <a:buSzPct val="100000"/>
              <a:buChar char="•"/>
            </a:pPr>
            <a:r>
              <a:rPr lang="en-US" sz="1600" dirty="0">
                <a:solidFill>
                  <a:schemeClr val="tx1"/>
                </a:solidFill>
              </a:rPr>
              <a:t>2023 is about 83% of the inventory; 2017 has only 39 slides</a:t>
            </a:r>
            <a:endParaRPr lang="en-US" sz="1600" dirty="0"/>
          </a:p>
          <a:p>
            <a:pPr marL="342900" indent="-342900">
              <a:spcAft>
                <a:spcPts val="800"/>
              </a:spcAft>
              <a:buSzPct val="100000"/>
              <a:buChar char="•"/>
            </a:pPr>
            <a:r>
              <a:rPr lang="en-US" sz="1600" dirty="0">
                <a:solidFill>
                  <a:schemeClr val="tx1"/>
                </a:solidFill>
              </a:rPr>
              <a:t>Coarse inputs: rainfall ~5.5 km, soil 250 m, hydrology ~90 m</a:t>
            </a:r>
            <a:endParaRPr lang="en-US" sz="1600" dirty="0"/>
          </a:p>
          <a:p>
            <a:pPr marL="342900" indent="-342900">
              <a:spcAft>
                <a:spcPts val="800"/>
              </a:spcAft>
              <a:buSzPct val="100000"/>
              <a:buChar char="•"/>
            </a:pPr>
            <a:r>
              <a:rPr lang="en-US" sz="1600" dirty="0">
                <a:solidFill>
                  <a:schemeClr val="tx1"/>
                </a:solidFill>
              </a:rPr>
              <a:t>Frequency-ratio check reuses the training landslides</a:t>
            </a:r>
            <a:endParaRPr lang="en-US" sz="1600" dirty="0"/>
          </a:p>
          <a:p>
            <a:pPr marL="342900" indent="-342900">
              <a:spcAft>
                <a:spcPts val="800"/>
              </a:spcAft>
              <a:buSzPct val="100000"/>
              <a:buChar char="•"/>
            </a:pPr>
            <a:r>
              <a:rPr lang="en-US" sz="1600" dirty="0">
                <a:solidFill>
                  <a:schemeClr val="tx1"/>
                </a:solidFill>
              </a:rPr>
              <a:t>Geotechnical strength (c, φ) not yet in the model</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548640"/>
            <a:ext cx="11064240" cy="822960"/>
          </a:xfrm>
          <a:prstGeom prst="rect">
            <a:avLst/>
          </a:prstGeom>
          <a:noFill/>
          <a:ln/>
        </p:spPr>
        <p:txBody>
          <a:bodyPr wrap="square" lIns="0" tIns="0" rIns="0" bIns="0"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What this project shows</a:t>
            </a:r>
            <a:endParaRPr lang="en-US" sz="3600" dirty="0"/>
          </a:p>
        </p:txBody>
      </p:sp>
      <p:sp>
        <p:nvSpPr>
          <p:cNvPr id="3" name="Point dot"/>
          <p:cNvSpPr/>
          <p:nvPr/>
        </p:nvSpPr>
        <p:spPr>
          <a:xfrm>
            <a:off x="548640" y="1691640"/>
            <a:ext cx="502920" cy="502920"/>
          </a:xfrm>
          <a:prstGeom prst="ellipse">
            <a:avLst/>
          </a:prstGeom>
          <a:solidFill>
            <a:schemeClr val="accent1"/>
          </a:solidFill>
          <a:ln/>
        </p:spPr>
      </p:sp>
      <p:sp>
        <p:nvSpPr>
          <p:cNvPr id="4" name="Text 2"/>
          <p:cNvSpPr txBox="1"/>
          <p:nvPr/>
        </p:nvSpPr>
        <p:spPr>
          <a:xfrm>
            <a:off x="548640" y="1691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3"/>
          <p:cNvSpPr txBox="1"/>
          <p:nvPr/>
        </p:nvSpPr>
        <p:spPr>
          <a:xfrm>
            <a:off x="1325880" y="1645920"/>
            <a:ext cx="10241280" cy="1005840"/>
          </a:xfrm>
          <a:prstGeom prst="rect">
            <a:avLst/>
          </a:prstGeom>
          <a:noFill/>
          <a:ln/>
        </p:spPr>
        <p:txBody>
          <a:bodyPr wrap="square" lIns="0" tIns="0" rIns="0" bIns="0" rtlCol="0" anchor="t"/>
          <a:lstStyle/>
          <a:p>
            <a:pPr indent="0" marL="0">
              <a:buNone/>
            </a:pPr>
            <a:r>
              <a:rPr lang="en-US" sz="2000" b="1" dirty="0">
                <a:solidFill>
                  <a:schemeClr val="bg1"/>
                </a:solidFill>
              </a:rPr>
              <a:t>Honest testing changes the answer</a:t>
            </a:r>
            <a:endParaRPr lang="en-US" sz="2000" dirty="0"/>
          </a:p>
          <a:p>
            <a:pPr indent="0" marL="0">
              <a:buNone/>
            </a:pPr>
            <a:r>
              <a:rPr lang="en-US" sz="1500" dirty="0">
                <a:solidFill>
                  <a:schemeClr val="bg2"/>
                </a:solidFill>
              </a:rPr>
              <a:t>Random splits flatter models. Under spatial CV the best random-split model, XGBoost, comes last.</a:t>
            </a:r>
            <a:endParaRPr lang="en-US" sz="2000" dirty="0"/>
          </a:p>
        </p:txBody>
      </p:sp>
      <p:sp>
        <p:nvSpPr>
          <p:cNvPr id="6" name="Point dot"/>
          <p:cNvSpPr/>
          <p:nvPr/>
        </p:nvSpPr>
        <p:spPr>
          <a:xfrm>
            <a:off x="548640" y="2834640"/>
            <a:ext cx="502920" cy="502920"/>
          </a:xfrm>
          <a:prstGeom prst="ellipse">
            <a:avLst/>
          </a:prstGeom>
          <a:solidFill>
            <a:schemeClr val="accent1"/>
          </a:solidFill>
          <a:ln/>
        </p:spPr>
      </p:sp>
      <p:sp>
        <p:nvSpPr>
          <p:cNvPr id="7" name="Text 5"/>
          <p:cNvSpPr txBox="1"/>
          <p:nvPr/>
        </p:nvSpPr>
        <p:spPr>
          <a:xfrm>
            <a:off x="548640" y="2834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Text 6"/>
          <p:cNvSpPr txBox="1"/>
          <p:nvPr/>
        </p:nvSpPr>
        <p:spPr>
          <a:xfrm>
            <a:off x="1325880" y="2788920"/>
            <a:ext cx="10241280" cy="1005840"/>
          </a:xfrm>
          <a:prstGeom prst="rect">
            <a:avLst/>
          </a:prstGeom>
          <a:noFill/>
          <a:ln/>
        </p:spPr>
        <p:txBody>
          <a:bodyPr wrap="square" lIns="0" tIns="0" rIns="0" bIns="0" rtlCol="0" anchor="t"/>
          <a:lstStyle/>
          <a:p>
            <a:pPr indent="0" marL="0">
              <a:buNone/>
            </a:pPr>
            <a:r>
              <a:rPr lang="en-US" sz="2000" b="1" dirty="0">
                <a:solidFill>
                  <a:schemeClr val="bg1"/>
                </a:solidFill>
              </a:rPr>
              <a:t>A defensible final model</a:t>
            </a:r>
            <a:endParaRPr lang="en-US" sz="2000" dirty="0"/>
          </a:p>
          <a:p>
            <a:pPr indent="0" marL="0">
              <a:buNone/>
            </a:pPr>
            <a:r>
              <a:rPr lang="en-US" sz="1500" dirty="0">
                <a:solidFill>
                  <a:schemeClr val="bg2"/>
                </a:solidFill>
              </a:rPr>
              <a:t>Tuned SVM: spatial ROC-AUC 0.905, accuracy 83.0%, kappa 0.66.</a:t>
            </a:r>
            <a:endParaRPr lang="en-US" sz="2000" dirty="0"/>
          </a:p>
        </p:txBody>
      </p:sp>
      <p:sp>
        <p:nvSpPr>
          <p:cNvPr id="9" name="Point dot"/>
          <p:cNvSpPr/>
          <p:nvPr/>
        </p:nvSpPr>
        <p:spPr>
          <a:xfrm>
            <a:off x="548640" y="3977640"/>
            <a:ext cx="502920" cy="502920"/>
          </a:xfrm>
          <a:prstGeom prst="ellipse">
            <a:avLst/>
          </a:prstGeom>
          <a:solidFill>
            <a:schemeClr val="accent1"/>
          </a:solidFill>
          <a:ln/>
        </p:spPr>
      </p:sp>
      <p:sp>
        <p:nvSpPr>
          <p:cNvPr id="10" name="Text 8"/>
          <p:cNvSpPr txBox="1"/>
          <p:nvPr/>
        </p:nvSpPr>
        <p:spPr>
          <a:xfrm>
            <a:off x="548640" y="3977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Text 9"/>
          <p:cNvSpPr txBox="1"/>
          <p:nvPr/>
        </p:nvSpPr>
        <p:spPr>
          <a:xfrm>
            <a:off x="1325880" y="3931920"/>
            <a:ext cx="10241280" cy="1005840"/>
          </a:xfrm>
          <a:prstGeom prst="rect">
            <a:avLst/>
          </a:prstGeom>
          <a:noFill/>
          <a:ln/>
        </p:spPr>
        <p:txBody>
          <a:bodyPr wrap="square" lIns="0" tIns="0" rIns="0" bIns="0" rtlCol="0" anchor="t"/>
          <a:lstStyle/>
          <a:p>
            <a:pPr indent="0" marL="0">
              <a:buNone/>
            </a:pPr>
            <a:r>
              <a:rPr lang="en-US" sz="2000" b="1" dirty="0">
                <a:solidFill>
                  <a:schemeClr val="bg1"/>
                </a:solidFill>
              </a:rPr>
              <a:t>Physically sensible drivers</a:t>
            </a:r>
            <a:endParaRPr lang="en-US" sz="2000" dirty="0"/>
          </a:p>
          <a:p>
            <a:pPr indent="0" marL="0">
              <a:buNone/>
            </a:pPr>
            <a:r>
              <a:rPr lang="en-US" sz="1500" dirty="0">
                <a:solidFill>
                  <a:schemeClr val="bg2"/>
                </a:solidFill>
              </a:rPr>
              <a:t>Slope, rainfall and northness carry the predictions.</a:t>
            </a:r>
            <a:endParaRPr lang="en-US" sz="2000" dirty="0"/>
          </a:p>
        </p:txBody>
      </p:sp>
      <p:sp>
        <p:nvSpPr>
          <p:cNvPr id="12" name="Point dot"/>
          <p:cNvSpPr/>
          <p:nvPr/>
        </p:nvSpPr>
        <p:spPr>
          <a:xfrm>
            <a:off x="548640" y="5120640"/>
            <a:ext cx="502920" cy="502920"/>
          </a:xfrm>
          <a:prstGeom prst="ellipse">
            <a:avLst/>
          </a:prstGeom>
          <a:solidFill>
            <a:schemeClr val="accent1"/>
          </a:solidFill>
          <a:ln/>
        </p:spPr>
      </p:sp>
      <p:sp>
        <p:nvSpPr>
          <p:cNvPr id="13" name="Text 11"/>
          <p:cNvSpPr txBox="1"/>
          <p:nvPr/>
        </p:nvSpPr>
        <p:spPr>
          <a:xfrm>
            <a:off x="548640" y="5120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Text 12"/>
          <p:cNvSpPr txBox="1"/>
          <p:nvPr/>
        </p:nvSpPr>
        <p:spPr>
          <a:xfrm>
            <a:off x="1325880" y="5074920"/>
            <a:ext cx="10241280" cy="1005840"/>
          </a:xfrm>
          <a:prstGeom prst="rect">
            <a:avLst/>
          </a:prstGeom>
          <a:noFill/>
          <a:ln/>
        </p:spPr>
        <p:txBody>
          <a:bodyPr wrap="square" lIns="0" tIns="0" rIns="0" bIns="0" rtlCol="0" anchor="t"/>
          <a:lstStyle/>
          <a:p>
            <a:pPr indent="0" marL="0">
              <a:buNone/>
            </a:pPr>
            <a:r>
              <a:rPr lang="en-US" sz="2000" b="1" dirty="0">
                <a:solidFill>
                  <a:schemeClr val="bg1"/>
                </a:solidFill>
              </a:rPr>
              <a:t>Actionable output</a:t>
            </a:r>
            <a:endParaRPr lang="en-US" sz="2000" dirty="0"/>
          </a:p>
          <a:p>
            <a:pPr indent="0" marL="0">
              <a:buNone/>
            </a:pPr>
            <a:r>
              <a:rPr lang="en-US" sz="1500" dirty="0">
                <a:solidFill>
                  <a:schemeClr val="bg2"/>
                </a:solidFill>
              </a:rPr>
              <a:t>19.9% of the area is High or Very High; 40 road stretches (17.5 km) flagged for protection.</a:t>
            </a:r>
            <a:endParaRPr lang="en-US" sz="2000" dirty="0"/>
          </a:p>
        </p:txBody>
      </p:sp>
      <p:sp>
        <p:nvSpPr>
          <p:cNvPr id="15" name="Text 13"/>
          <p:cNvSpPr txBox="1"/>
          <p:nvPr/>
        </p:nvSpPr>
        <p:spPr>
          <a:xfrm>
            <a:off x="548640" y="6172200"/>
            <a:ext cx="11064240" cy="365760"/>
          </a:xfrm>
          <a:prstGeom prst="rect">
            <a:avLst/>
          </a:prstGeom>
          <a:noFill/>
          <a:ln/>
        </p:spPr>
        <p:txBody>
          <a:bodyPr wrap="square" lIns="0" tIns="0" rIns="0" bIns="0" rtlCol="0" anchor="ctr"/>
          <a:lstStyle/>
          <a:p>
            <a:pPr indent="0" marL="0">
              <a:buNone/>
            </a:pPr>
            <a:r>
              <a:rPr lang="en-US" sz="1400" dirty="0">
                <a:solidFill>
                  <a:schemeClr val="accent3"/>
                </a:solidFill>
              </a:rPr>
              <a:t>Code, data and results: github.com/Subham1709/BTP</a:t>
            </a:r>
            <a:endParaRPr lang="en-US" sz="1400" dirty="0"/>
          </a:p>
        </p:txBody>
      </p:sp>
    </p:spTree>
  </p:cSld>
  <p:clrMapOvr>
    <a:masterClrMapping/>
  </p:clrMapOvr>
</p:sld>
</file>

<file path=ppt/theme/theme1.xml><?xml version="1.0" encoding="utf-8"?>
<a:theme xmlns:a="http://schemas.openxmlformats.org/drawingml/2006/main" name="Shivalik">
  <a:themeElements>
    <a:clrScheme name="Shivalik">
      <a:dk1>
        <a:srgbClr val="1E2B26"/>
      </a:dk1>
      <a:lt1>
        <a:srgbClr val="FFFFFF"/>
      </a:lt1>
      <a:dk2>
        <a:srgbClr val="23463C"/>
      </a:dk2>
      <a:lt2>
        <a:srgbClr val="EEF2EF"/>
      </a:lt2>
      <a:accent1>
        <a:srgbClr val="C8442A"/>
      </a:accent1>
      <a:accent2>
        <a:srgbClr val="2F6B57"/>
      </a:accent2>
      <a:accent3>
        <a:srgbClr val="E39B3C"/>
      </a:accent3>
      <a:accent4>
        <a:srgbClr val="6C8A7F"/>
      </a:accent4>
      <a:accent5>
        <a:srgbClr val="8C9A94"/>
      </a:accent5>
      <a:accent6>
        <a:srgbClr val="3E7CB1"/>
      </a:accent6>
      <a:hlink>
        <a:srgbClr val="2F6B57"/>
      </a:hlink>
      <a:folHlink>
        <a:srgbClr val="6C8A7F"/>
      </a:folHlink>
    </a:clrScheme>
    <a:fontScheme name="Shivali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Landslide Susceptibility Mapping - BTP</dc:title>
  <dc:subject>PptxGenJS Presentation</dc:subject>
  <dc:creator>Subham Agrawal</dc:creator>
  <cp:lastModifiedBy>Subham Agrawal</cp:lastModifiedBy>
  <cp:revision>1</cp:revision>
  <dcterms:created xsi:type="dcterms:W3CDTF">2026-10-14T13:03:28Z</dcterms:created>
  <dcterms:modified xsi:type="dcterms:W3CDTF">2026-10-14T13:03:28Z</dcterms:modified>
</cp:coreProperties>
</file>